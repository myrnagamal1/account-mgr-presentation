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ACCOUNT MANAGEMENT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4F4F2"/>
                </a:solidFill>
                <a:latin typeface="Calibri"/>
              </a:rPr>
              <a:t>Myrna Gamal Fahim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2A5"/>
                </a:solidFill>
                <a:latin typeface="Calibri"/>
              </a:rPr>
              <a:t>Senior Sales Development Executive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2286000" cy="2926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432304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1318"/>
                </a:solidFill>
                <a:latin typeface="Calibri"/>
              </a:rPr>
              <a:t>Team Leader · MEA North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274320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9443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2A5"/>
                </a:solidFill>
                <a:latin typeface="Calibri"/>
              </a:rPr>
              <a:t>10+ years building enterprise pipeline, leading teams, and
delivering commercial results across the MEA region.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097280"/>
            <a:ext cx="3154680" cy="128016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097280"/>
            <a:ext cx="315468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2070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Calibri"/>
              </a:rPr>
              <a:t>140%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1051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of target this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2514600"/>
            <a:ext cx="3154680" cy="128016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2514600"/>
            <a:ext cx="315468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62432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2783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year one — joining 4 months late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3931920"/>
            <a:ext cx="3154680" cy="128016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3931920"/>
            <a:ext cx="315468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04164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Calibri"/>
              </a:rPr>
              <a:t>10+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64515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years B2B enterprise experience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" y="6492240"/>
            <a:ext cx="12134088" cy="36576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2A5"/>
                </a:solidFill>
                <a:latin typeface="Calibri"/>
              </a:rPr>
              <a:t>myrna.gamal@aucegypt.edu  ·  linkedin.com/in/myrna-gamalfahim  ·  Cairo, Egypt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05156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CAREER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2"/>
                </a:solidFill>
                <a:latin typeface="Calibri"/>
              </a:rPr>
              <a:t>Built on leading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2A5"/>
                </a:solidFill>
                <a:latin typeface="Calibri"/>
              </a:rPr>
              <a:t>Every role has had a leadership dimension — not just doing the work, but building the team and the 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09728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3108960" cy="54864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Core 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2743200" cy="347472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709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Team Leadership &amp; Mentorship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84832"/>
            <a:ext cx="2743200" cy="347472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130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Enterprise Account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05456"/>
            <a:ext cx="2743200" cy="347472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51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Salesforce &amp; CRM Governance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2743200" cy="347472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71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Stakeholder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46704"/>
            <a:ext cx="2743200" cy="347472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3924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Pipeline &amp; Revenue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67328"/>
            <a:ext cx="2743200" cy="347472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813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AI-Led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188720"/>
            <a:ext cx="8366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B1"/>
                </a:solidFill>
                <a:latin typeface="Calibri"/>
              </a:rPr>
              <a:t>APR 2025 — PRESENT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1417320"/>
            <a:ext cx="8366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2"/>
                </a:solidFill>
                <a:latin typeface="Calibri"/>
              </a:rPr>
              <a:t>Senior Sales Development Executive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737360"/>
            <a:ext cx="8366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9B1"/>
                </a:solidFill>
                <a:latin typeface="Calibri"/>
              </a:rPr>
              <a:t>SAP · Cairo, Egypt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1938528"/>
            <a:ext cx="8366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Senior SDE at SAP, currently team leader for MEA North — driving pipeline strategy across key industries, aligning the team on client priorities, and working alongside account executives to build and convert enterprise pipeline.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578608"/>
            <a:ext cx="2103120" cy="228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25786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318"/>
                </a:solidFill>
                <a:latin typeface="Calibri"/>
              </a:rPr>
              <a:t>Team Leader · MEA North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2880360"/>
            <a:ext cx="8366760" cy="254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971800"/>
            <a:ext cx="8366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B1"/>
                </a:solidFill>
                <a:latin typeface="Calibri"/>
              </a:rPr>
              <a:t>FEB 2022 — APR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200400"/>
            <a:ext cx="8366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2"/>
                </a:solidFill>
                <a:latin typeface="Calibri"/>
              </a:rPr>
              <a:t>Data &amp; AI Technical Sales Specialist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20440"/>
            <a:ext cx="8366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9B1"/>
                </a:solidFill>
                <a:latin typeface="Calibri"/>
              </a:rPr>
              <a:t>IBM · Cairo, Egypt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721608"/>
            <a:ext cx="8366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Owned the full technical sales cycle for enterprise clients. Built ROI models, delivered executive-level demos and proofs of concept, and became the trusted advisor for IBM business partners across Egypt, South Africa, and Turkey on all things Data &amp; AI.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663440"/>
            <a:ext cx="8366760" cy="254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754880"/>
            <a:ext cx="8366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B1"/>
                </a:solidFill>
                <a:latin typeface="Calibri"/>
              </a:rPr>
              <a:t>APR 2017 — FEB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83480"/>
            <a:ext cx="8366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2"/>
                </a:solidFill>
                <a:latin typeface="Calibri"/>
              </a:rPr>
              <a:t>IBM Cloud Developer Advocate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303520"/>
            <a:ext cx="8366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9B1"/>
                </a:solidFill>
                <a:latin typeface="Calibri"/>
              </a:rPr>
              <a:t>IBM · Cairo, Egypt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504688"/>
            <a:ext cx="8366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Led a team of Developer Advocates across MEA, setting direction, building performance rhythms, and growing IBM Cloud's developer ecosystem. Drove 40% increase in active engagement and personally secured 200+ new startup partners. Built C-level relationships region-wide.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6144768"/>
            <a:ext cx="2103120" cy="228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6144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318"/>
                </a:solidFill>
                <a:latin typeface="Calibri"/>
              </a:rPr>
              <a:t>Team Manager · Developer Advocacy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6446520"/>
            <a:ext cx="8366760" cy="254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6446520"/>
            <a:ext cx="11914632" cy="32004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6483096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2A5"/>
                </a:solidFill>
                <a:latin typeface="Calibri"/>
              </a:rPr>
              <a:t>BSc Computer Science, AUC (GPA 3.8)  ·  MBA, Edinburgh Business School (ongoing)  ·  Summer Abroad: UC Berkeley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05156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ACHIEVEMENT I'M PROUD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2"/>
                </a:solidFill>
                <a:latin typeface="Calibri"/>
              </a:rPr>
              <a:t>Hitting target twice. The second time before I even had a full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2A5"/>
                </a:solidFill>
                <a:latin typeface="Calibri"/>
              </a:rPr>
              <a:t>SAP · MEA North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09728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4114800" cy="54864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411480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C9B1"/>
                </a:solidFill>
                <a:latin typeface="Calibri"/>
              </a:rPr>
              <a:t>140%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2"/>
                </a:solidFill>
                <a:latin typeface="Calibri"/>
              </a:rPr>
              <a:t>of sales target achieved this year at SAP.
100% the year before, despite joining
4 months into the 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3657600" cy="254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4015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2A5"/>
                </a:solidFill>
                <a:latin typeface="Calibri"/>
              </a:rPr>
              <a:t>"I don't wait for conditions to be perfect. I build the conditions."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234440"/>
            <a:ext cx="7406640" cy="111556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234440"/>
            <a:ext cx="54864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13258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◆  100% in year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618488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Full target delivered with only 8 months in role, in a new market and a new product portfolio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441448"/>
            <a:ext cx="7406640" cy="111556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2441448"/>
            <a:ext cx="54864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25328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◆  140% this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825496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Exceeded target while simultaneously taking on team leadership for MEA North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648456"/>
            <a:ext cx="7406640" cy="111556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648456"/>
            <a:ext cx="54864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373989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◆  AI-powered prospecting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032504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Used AI to identify the right accounts and personas — precision targeting, not spray-and-pray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4855464"/>
            <a:ext cx="7406640" cy="111556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855464"/>
            <a:ext cx="54864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94690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◆  Lead and 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5239512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2"/>
                </a:solidFill>
                <a:latin typeface="Calibri"/>
              </a:rPr>
              <a:t>Hit personal targets while leading the MEA North SDE team, proving I can do both at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05156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VALUE TO THIS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2"/>
                </a:solidFill>
                <a:latin typeface="Calibri"/>
              </a:rPr>
              <a:t>I don't just manage accounts. I build the system that makes account management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2A5"/>
                </a:solidFill>
                <a:latin typeface="Calibri"/>
              </a:rPr>
              <a:t>Every point below is grounded in something I have actually done.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09728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170432"/>
            <a:ext cx="3858768" cy="178308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170432"/>
            <a:ext cx="3858768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261872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2"/>
                </a:solidFill>
                <a:latin typeface="Calibri"/>
              </a:rPr>
              <a:t>Account Cadence &amp; 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609344"/>
            <a:ext cx="3630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Designed and run engagement cycles for 40+ client and partner relationships at IBM. At SAP: 140% this year, 100% last year (joining 4 months late). I know what a healthy account rhythm looks like.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1376" y="1170432"/>
            <a:ext cx="3858768" cy="178308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1376" y="1170432"/>
            <a:ext cx="3858768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261872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2"/>
                </a:solidFill>
                <a:latin typeface="Calibri"/>
              </a:rPr>
              <a:t>Leading Teams, Not Just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609344"/>
            <a:ext cx="3630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Managed Developer Advocates at IBM and now serve as team leader for MEA North at SAP. I set direction, create accountability, and bring out the best in the people around 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170432"/>
            <a:ext cx="3858768" cy="178308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170432"/>
            <a:ext cx="3858768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261872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2"/>
                </a:solidFill>
                <a:latin typeface="Calibri"/>
              </a:rPr>
              <a:t>AI-Led Selling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1609344"/>
            <a:ext cx="3630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I build AI into how I work — not as a gimmick but as infrastructure. AI tools help me identify the right accounts and personas, prioritise outreach, and build prospecting applications. It is how I compete at 140%.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063240"/>
            <a:ext cx="3858768" cy="178308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063240"/>
            <a:ext cx="3858768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154680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2"/>
                </a:solidFill>
                <a:latin typeface="Calibri"/>
              </a:rPr>
              <a:t>Partner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502152"/>
            <a:ext cx="3630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Built and maintained partner relationships throughout my career — from 200+ startup partners in IBM's Global Entrepreneur Program to strategic alliances at SAP. I know how to activate a partner network to open doors and co-sell.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6" y="3063240"/>
            <a:ext cx="3858768" cy="178308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1376" y="3063240"/>
            <a:ext cx="3858768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3154680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2"/>
                </a:solidFill>
                <a:latin typeface="Calibri"/>
              </a:rPr>
              <a:t>Senior Stakeholder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3502152"/>
            <a:ext cx="3630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From CTOs at IBM to enterprise procurement at SAP. Relationships built at executive level across Egypt, South Africa, and Morocco. I communicate with clarity, adapt to the room, and earn trust quickly.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3063240"/>
            <a:ext cx="3858768" cy="178308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3063240"/>
            <a:ext cx="3858768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3154680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2"/>
                </a:solidFill>
                <a:latin typeface="Calibri"/>
              </a:rPr>
              <a:t>Salesforce &amp; Pipeline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502152"/>
            <a:ext cx="3630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2A5"/>
                </a:solidFill>
                <a:latin typeface="Calibri"/>
              </a:rPr>
              <a:t>Running pipeline management in Salesforce at SAP. I take data hygiene seriously. A CRM nobody trusts is just admin overhead. I make it a decision-making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548640"/>
            <a:ext cx="11823192" cy="237744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48640"/>
            <a:ext cx="11823192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C9B1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109087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2"/>
                </a:solidFill>
                <a:latin typeface="Calibri"/>
              </a:rPr>
              <a:t>I have spent over a decade building the structures that make client relationships work: the cadence, the data, the trust, the team. Now I want to go deep on a defined portfolio of priority clients and do that at the highest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2A5"/>
                </a:solidFill>
                <a:latin typeface="Calibri"/>
              </a:rPr>
              <a:t>— Myrna Gamal Fahim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004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WHY THIS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93008"/>
            <a:ext cx="594360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61188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>
                <a:solidFill>
                  <a:srgbClr val="00C9B1"/>
                </a:solidFill>
                <a:latin typeface="Calibri"/>
              </a:rPr>
              <a:t>◆  </a:t>
            </a:r>
            <a:r>
              <a:rPr sz="1050">
                <a:solidFill>
                  <a:srgbClr val="F4F4F2"/>
                </a:solidFill>
                <a:latin typeface="Calibri"/>
              </a:rPr>
              <a:t>My career has been built on structured relationship management at scale. This role lets me focus that on a defined portfolio of priority clients where depth matters most.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00C9B1"/>
                </a:solidFill>
                <a:latin typeface="Calibri"/>
              </a:rPr>
              <a:t>◆  </a:t>
            </a:r>
            <a:r>
              <a:rPr sz="1050">
                <a:solidFill>
                  <a:srgbClr val="F4F4F2"/>
                </a:solidFill>
                <a:latin typeface="Calibri"/>
              </a:rPr>
              <a:t>I am energised by the disciplines this role demands: cadence, Salesforce governance, value reporting, and feedback loops. These are not tasks I tolerate — they are where I do my best work.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00C9B1"/>
                </a:solidFill>
                <a:latin typeface="Calibri"/>
              </a:rPr>
              <a:t>◆  </a:t>
            </a:r>
            <a:r>
              <a:rPr sz="1050">
                <a:solidFill>
                  <a:srgbClr val="F4F4F2"/>
                </a:solidFill>
                <a:latin typeface="Calibri"/>
              </a:rPr>
              <a:t>I lead with AI, build strong partner relationships, and deliver results. 140% this year while leading a team proves I can operate at both levels simultaneously.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00C9B1"/>
                </a:solidFill>
                <a:latin typeface="Calibri"/>
              </a:rPr>
              <a:t>◆  </a:t>
            </a:r>
            <a:r>
              <a:rPr sz="1050">
                <a:solidFill>
                  <a:srgbClr val="F4F4F2"/>
                </a:solidFill>
                <a:latin typeface="Calibri"/>
              </a:rPr>
              <a:t>Moving from technical sales into account management excellence is a deliberate choice. I want to go deeper on the client relationship itself, and this role is the right vehicle.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154680"/>
            <a:ext cx="3931920" cy="34290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2461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MY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520440"/>
            <a:ext cx="3474720" cy="25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657600"/>
            <a:ext cx="3520440" cy="6858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37124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Day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9684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F4F2"/>
                </a:solidFill>
                <a:latin typeface="Calibri"/>
              </a:rPr>
              <a:t>Listen, map the client landscape, understand existing account rhythms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425696"/>
            <a:ext cx="3520440" cy="6858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448056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4736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F4F2"/>
                </a:solidFill>
                <a:latin typeface="Calibri"/>
              </a:rPr>
              <a:t>Audit Salesforce data quality, reporting cadence, and stakeholder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193792"/>
            <a:ext cx="3520440" cy="6858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52486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90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5504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F4F2"/>
                </a:solidFill>
                <a:latin typeface="Calibri"/>
              </a:rPr>
              <a:t>Embed structured account cadence and governance; deliver first value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5961888"/>
            <a:ext cx="3520440" cy="685800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6016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62727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F4F2"/>
                </a:solidFill>
                <a:latin typeface="Calibri"/>
              </a:rPr>
              <a:t>Measurable uplift in client feedback, pipeline accuracy, and on-time reporting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" y="6492240"/>
            <a:ext cx="12134088" cy="36576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3796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2A5"/>
                </a:solidFill>
                <a:latin typeface="Calibri"/>
              </a:rPr>
              <a:t>Thank you. I welcome the opportunity to discuss how my background can contribute to your Priority Client Programme.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