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113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686800" y="0"/>
            <a:ext cx="3502152" cy="685800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502920"/>
            <a:ext cx="8229600" cy="256032"/>
          </a:xfrm>
          <a:prstGeom prst="rect">
            <a:avLst/>
          </a:prstGeom>
          <a:noFill/>
        </p:spPr>
        <p:txBody>
          <a:bodyPr wrap="square">
            <a:spAutoFit/>
          </a:bodyPr>
          <a:lstStyle/>
          <a:p>
            <a:pPr algn="l"/>
            <a:r>
              <a:rPr sz="900" b="1" i="0">
                <a:solidFill>
                  <a:srgbClr val="00C9B1"/>
                </a:solidFill>
                <a:latin typeface="Calibri"/>
              </a:rPr>
              <a:t>ACCOUNT MANAGER</a:t>
            </a:r>
          </a:p>
        </p:txBody>
      </p:sp>
      <p:pic>
        <p:nvPicPr>
          <p:cNvPr id="6" name="Picture 5" descr="image.png"/>
          <p:cNvPicPr>
            <a:picLocks noChangeAspect="1"/>
          </p:cNvPicPr>
          <p:nvPr/>
        </p:nvPicPr>
        <p:blipFill>
          <a:blip r:embed="rId2"/>
          <a:stretch>
            <a:fillRect/>
          </a:stretch>
        </p:blipFill>
        <p:spPr>
          <a:xfrm>
            <a:off x="9326880" y="411480"/>
            <a:ext cx="2377440" cy="2377440"/>
          </a:xfrm>
          <a:prstGeom prst="rect">
            <a:avLst/>
          </a:prstGeom>
        </p:spPr>
      </p:pic>
      <p:sp>
        <p:nvSpPr>
          <p:cNvPr id="7" name="TextBox 6"/>
          <p:cNvSpPr txBox="1"/>
          <p:nvPr/>
        </p:nvSpPr>
        <p:spPr>
          <a:xfrm>
            <a:off x="274320" y="914400"/>
            <a:ext cx="8229600" cy="685800"/>
          </a:xfrm>
          <a:prstGeom prst="rect">
            <a:avLst/>
          </a:prstGeom>
          <a:noFill/>
        </p:spPr>
        <p:txBody>
          <a:bodyPr wrap="square">
            <a:spAutoFit/>
          </a:bodyPr>
          <a:lstStyle/>
          <a:p>
            <a:pPr algn="l"/>
            <a:r>
              <a:rPr sz="6000" b="1" i="0">
                <a:solidFill>
                  <a:srgbClr val="F4F4F2"/>
                </a:solidFill>
                <a:latin typeface="Calibri"/>
              </a:rPr>
              <a:t>Myrna</a:t>
            </a:r>
          </a:p>
        </p:txBody>
      </p:sp>
      <p:sp>
        <p:nvSpPr>
          <p:cNvPr id="8" name="TextBox 7"/>
          <p:cNvSpPr txBox="1"/>
          <p:nvPr/>
        </p:nvSpPr>
        <p:spPr>
          <a:xfrm>
            <a:off x="274320" y="1572768"/>
            <a:ext cx="8229600" cy="685800"/>
          </a:xfrm>
          <a:prstGeom prst="rect">
            <a:avLst/>
          </a:prstGeom>
          <a:noFill/>
        </p:spPr>
        <p:txBody>
          <a:bodyPr wrap="square">
            <a:spAutoFit/>
          </a:bodyPr>
          <a:lstStyle/>
          <a:p>
            <a:pPr algn="l"/>
            <a:r>
              <a:rPr sz="6000" b="1" i="0">
                <a:solidFill>
                  <a:srgbClr val="00C9B1"/>
                </a:solidFill>
                <a:latin typeface="Calibri"/>
              </a:rPr>
              <a:t>Gamal Fahim</a:t>
            </a:r>
          </a:p>
        </p:txBody>
      </p:sp>
      <p:sp>
        <p:nvSpPr>
          <p:cNvPr id="9" name="TextBox 8"/>
          <p:cNvSpPr txBox="1"/>
          <p:nvPr/>
        </p:nvSpPr>
        <p:spPr>
          <a:xfrm>
            <a:off x="274320" y="2377440"/>
            <a:ext cx="8229600" cy="292608"/>
          </a:xfrm>
          <a:prstGeom prst="rect">
            <a:avLst/>
          </a:prstGeom>
          <a:noFill/>
        </p:spPr>
        <p:txBody>
          <a:bodyPr wrap="square">
            <a:spAutoFit/>
          </a:bodyPr>
          <a:lstStyle/>
          <a:p>
            <a:pPr algn="l"/>
            <a:r>
              <a:rPr sz="1300" b="0" i="0">
                <a:solidFill>
                  <a:srgbClr val="8B92A5"/>
                </a:solidFill>
                <a:latin typeface="Calibri"/>
              </a:rPr>
              <a:t>Senior Sales Development Executive  ·  SAP</a:t>
            </a:r>
          </a:p>
        </p:txBody>
      </p:sp>
      <p:sp>
        <p:nvSpPr>
          <p:cNvPr id="10" name="TextBox 9"/>
          <p:cNvSpPr txBox="1"/>
          <p:nvPr/>
        </p:nvSpPr>
        <p:spPr>
          <a:xfrm>
            <a:off x="274320" y="2670048"/>
            <a:ext cx="8229600" cy="256032"/>
          </a:xfrm>
          <a:prstGeom prst="rect">
            <a:avLst/>
          </a:prstGeom>
          <a:noFill/>
        </p:spPr>
        <p:txBody>
          <a:bodyPr wrap="square">
            <a:spAutoFit/>
          </a:bodyPr>
          <a:lstStyle/>
          <a:p>
            <a:pPr algn="l"/>
            <a:r>
              <a:rPr sz="1100" b="0" i="0">
                <a:solidFill>
                  <a:srgbClr val="8B92A5"/>
                </a:solidFill>
                <a:latin typeface="Calibri"/>
              </a:rPr>
              <a:t>MEA North  ·  Enterprise Clients</a:t>
            </a:r>
          </a:p>
        </p:txBody>
      </p:sp>
      <p:sp>
        <p:nvSpPr>
          <p:cNvPr id="11" name="Rectangle 10"/>
          <p:cNvSpPr/>
          <p:nvPr/>
        </p:nvSpPr>
        <p:spPr>
          <a:xfrm>
            <a:off x="274320" y="3035808"/>
            <a:ext cx="274320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3154680"/>
            <a:ext cx="8046720" cy="868680"/>
          </a:xfrm>
          <a:prstGeom prst="rect">
            <a:avLst/>
          </a:prstGeom>
          <a:noFill/>
        </p:spPr>
        <p:txBody>
          <a:bodyPr wrap="square">
            <a:spAutoFit/>
          </a:bodyPr>
          <a:lstStyle/>
          <a:p>
            <a:pPr algn="l"/>
            <a:r>
              <a:rPr sz="1300" b="0" i="0">
                <a:solidFill>
                  <a:srgbClr val="F4F4F2"/>
                </a:solidFill>
                <a:latin typeface="Calibri"/>
              </a:rPr>
              <a:t>I want to own a client relationship completely.
To be the person they call, the person they trust,
and the person who makes them successful.</a:t>
            </a:r>
          </a:p>
        </p:txBody>
      </p:sp>
      <p:sp>
        <p:nvSpPr>
          <p:cNvPr id="13" name="Rectangle 12"/>
          <p:cNvSpPr/>
          <p:nvPr/>
        </p:nvSpPr>
        <p:spPr>
          <a:xfrm>
            <a:off x="8823960" y="3200400"/>
            <a:ext cx="3154680" cy="1005840"/>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823960" y="3200400"/>
            <a:ext cx="315468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979408" y="3291840"/>
            <a:ext cx="2743200" cy="502920"/>
          </a:xfrm>
          <a:prstGeom prst="rect">
            <a:avLst/>
          </a:prstGeom>
          <a:noFill/>
        </p:spPr>
        <p:txBody>
          <a:bodyPr wrap="square">
            <a:spAutoFit/>
          </a:bodyPr>
          <a:lstStyle/>
          <a:p>
            <a:pPr algn="l"/>
            <a:r>
              <a:rPr sz="3000" b="1" i="0">
                <a:solidFill>
                  <a:srgbClr val="00C9B1"/>
                </a:solidFill>
                <a:latin typeface="Calibri"/>
              </a:rPr>
              <a:t>10+</a:t>
            </a:r>
          </a:p>
        </p:txBody>
      </p:sp>
      <p:sp>
        <p:nvSpPr>
          <p:cNvPr id="16" name="TextBox 15"/>
          <p:cNvSpPr txBox="1"/>
          <p:nvPr/>
        </p:nvSpPr>
        <p:spPr>
          <a:xfrm>
            <a:off x="8979408" y="3794760"/>
            <a:ext cx="2743200" cy="347472"/>
          </a:xfrm>
          <a:prstGeom prst="rect">
            <a:avLst/>
          </a:prstGeom>
          <a:noFill/>
        </p:spPr>
        <p:txBody>
          <a:bodyPr wrap="square">
            <a:spAutoFit/>
          </a:bodyPr>
          <a:lstStyle/>
          <a:p>
            <a:pPr algn="l"/>
            <a:r>
              <a:rPr sz="900" b="0" i="0">
                <a:solidFill>
                  <a:srgbClr val="F4F4F2"/>
                </a:solidFill>
                <a:latin typeface="Calibri"/>
              </a:rPr>
              <a:t>Years enterprise client experience</a:t>
            </a:r>
          </a:p>
        </p:txBody>
      </p:sp>
      <p:sp>
        <p:nvSpPr>
          <p:cNvPr id="17" name="Rectangle 16"/>
          <p:cNvSpPr/>
          <p:nvPr/>
        </p:nvSpPr>
        <p:spPr>
          <a:xfrm>
            <a:off x="8823960" y="4279392"/>
            <a:ext cx="3154680" cy="1005840"/>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23960" y="4279392"/>
            <a:ext cx="315468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79408" y="4370832"/>
            <a:ext cx="2743200" cy="502920"/>
          </a:xfrm>
          <a:prstGeom prst="rect">
            <a:avLst/>
          </a:prstGeom>
          <a:noFill/>
        </p:spPr>
        <p:txBody>
          <a:bodyPr wrap="square">
            <a:spAutoFit/>
          </a:bodyPr>
          <a:lstStyle/>
          <a:p>
            <a:pPr algn="l"/>
            <a:r>
              <a:rPr sz="3000" b="1" i="0">
                <a:solidFill>
                  <a:srgbClr val="00C9B1"/>
                </a:solidFill>
                <a:latin typeface="Calibri"/>
              </a:rPr>
              <a:t>3</a:t>
            </a:r>
          </a:p>
        </p:txBody>
      </p:sp>
      <p:sp>
        <p:nvSpPr>
          <p:cNvPr id="20" name="TextBox 19"/>
          <p:cNvSpPr txBox="1"/>
          <p:nvPr/>
        </p:nvSpPr>
        <p:spPr>
          <a:xfrm>
            <a:off x="8979408" y="4873752"/>
            <a:ext cx="2743200" cy="347472"/>
          </a:xfrm>
          <a:prstGeom prst="rect">
            <a:avLst/>
          </a:prstGeom>
          <a:noFill/>
        </p:spPr>
        <p:txBody>
          <a:bodyPr wrap="square">
            <a:spAutoFit/>
          </a:bodyPr>
          <a:lstStyle/>
          <a:p>
            <a:pPr algn="l"/>
            <a:r>
              <a:rPr sz="900" b="0" i="0">
                <a:solidFill>
                  <a:srgbClr val="F4F4F2"/>
                </a:solidFill>
                <a:latin typeface="Calibri"/>
              </a:rPr>
              <a:t>Markets: Egypt, South Africa, Morocco</a:t>
            </a:r>
          </a:p>
        </p:txBody>
      </p:sp>
      <p:sp>
        <p:nvSpPr>
          <p:cNvPr id="21" name="Rectangle 20"/>
          <p:cNvSpPr/>
          <p:nvPr/>
        </p:nvSpPr>
        <p:spPr>
          <a:xfrm>
            <a:off x="8823960" y="5358384"/>
            <a:ext cx="3154680" cy="1005840"/>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823960" y="5358384"/>
            <a:ext cx="315468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79408" y="5449824"/>
            <a:ext cx="2743200" cy="502920"/>
          </a:xfrm>
          <a:prstGeom prst="rect">
            <a:avLst/>
          </a:prstGeom>
          <a:noFill/>
        </p:spPr>
        <p:txBody>
          <a:bodyPr wrap="square">
            <a:spAutoFit/>
          </a:bodyPr>
          <a:lstStyle/>
          <a:p>
            <a:pPr algn="l"/>
            <a:r>
              <a:rPr sz="3000" b="1" i="0">
                <a:solidFill>
                  <a:srgbClr val="00C9B1"/>
                </a:solidFill>
                <a:latin typeface="Calibri"/>
              </a:rPr>
              <a:t>200+</a:t>
            </a:r>
          </a:p>
        </p:txBody>
      </p:sp>
      <p:sp>
        <p:nvSpPr>
          <p:cNvPr id="24" name="TextBox 23"/>
          <p:cNvSpPr txBox="1"/>
          <p:nvPr/>
        </p:nvSpPr>
        <p:spPr>
          <a:xfrm>
            <a:off x="8979408" y="5952744"/>
            <a:ext cx="2743200" cy="347472"/>
          </a:xfrm>
          <a:prstGeom prst="rect">
            <a:avLst/>
          </a:prstGeom>
          <a:noFill/>
        </p:spPr>
        <p:txBody>
          <a:bodyPr wrap="square">
            <a:spAutoFit/>
          </a:bodyPr>
          <a:lstStyle/>
          <a:p>
            <a:pPr algn="l"/>
            <a:r>
              <a:rPr sz="900" b="0" i="0">
                <a:solidFill>
                  <a:srgbClr val="F4F4F2"/>
                </a:solidFill>
                <a:latin typeface="Calibri"/>
              </a:rPr>
              <a:t>Partners built from ground up at IBM</a:t>
            </a:r>
          </a:p>
        </p:txBody>
      </p:sp>
      <p:sp>
        <p:nvSpPr>
          <p:cNvPr id="25" name="Rectangle 24"/>
          <p:cNvSpPr/>
          <p:nvPr/>
        </p:nvSpPr>
        <p:spPr>
          <a:xfrm>
            <a:off x="54864" y="6492240"/>
            <a:ext cx="12134088" cy="36576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 y="6537960"/>
            <a:ext cx="8229600" cy="256032"/>
          </a:xfrm>
          <a:prstGeom prst="rect">
            <a:avLst/>
          </a:prstGeom>
          <a:noFill/>
        </p:spPr>
        <p:txBody>
          <a:bodyPr wrap="square">
            <a:spAutoFit/>
          </a:bodyPr>
          <a:lstStyle/>
          <a:p>
            <a:pPr algn="l"/>
            <a:r>
              <a:rPr sz="900" b="0" i="0">
                <a:solidFill>
                  <a:srgbClr val="8B92A5"/>
                </a:solidFill>
                <a:latin typeface="Calibri"/>
              </a:rPr>
              <a:t>myrna.gamal@aucegypt.edu  ·  linkedin.com/in/myrna-gamalfahim  ·  Cairo, Egypt</a:t>
            </a:r>
          </a:p>
        </p:txBody>
      </p:sp>
      <p:sp>
        <p:nvSpPr>
          <p:cNvPr id="27" name="TextBox 26"/>
          <p:cNvSpPr txBox="1"/>
          <p:nvPr/>
        </p:nvSpPr>
        <p:spPr>
          <a:xfrm>
            <a:off x="8823960" y="6537960"/>
            <a:ext cx="3108960" cy="256032"/>
          </a:xfrm>
          <a:prstGeom prst="rect">
            <a:avLst/>
          </a:prstGeom>
          <a:noFill/>
        </p:spPr>
        <p:txBody>
          <a:bodyPr wrap="square">
            <a:spAutoFit/>
          </a:bodyPr>
          <a:lstStyle/>
          <a:p>
            <a:pPr algn="r"/>
            <a:r>
              <a:rPr sz="900" b="0" i="0">
                <a:solidFill>
                  <a:srgbClr val="8B92A5"/>
                </a:solidFill>
                <a:latin typeface="Calibri"/>
              </a:rPr>
              <a:t>Prepared for the Account Manager Role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113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0"/>
            <a:ext cx="12134088" cy="105156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9144000" cy="256032"/>
          </a:xfrm>
          <a:prstGeom prst="rect">
            <a:avLst/>
          </a:prstGeom>
          <a:noFill/>
        </p:spPr>
        <p:txBody>
          <a:bodyPr wrap="square">
            <a:spAutoFit/>
          </a:bodyPr>
          <a:lstStyle/>
          <a:p>
            <a:pPr algn="l"/>
            <a:r>
              <a:rPr sz="900" b="1" i="0">
                <a:solidFill>
                  <a:srgbClr val="00C9B1"/>
                </a:solidFill>
                <a:latin typeface="Calibri"/>
              </a:rPr>
              <a:t>CAREER JOURNEY</a:t>
            </a:r>
          </a:p>
        </p:txBody>
      </p:sp>
      <p:sp>
        <p:nvSpPr>
          <p:cNvPr id="6" name="TextBox 5"/>
          <p:cNvSpPr txBox="1"/>
          <p:nvPr/>
        </p:nvSpPr>
        <p:spPr>
          <a:xfrm>
            <a:off x="274320" y="292608"/>
            <a:ext cx="11430000" cy="457200"/>
          </a:xfrm>
          <a:prstGeom prst="rect">
            <a:avLst/>
          </a:prstGeom>
          <a:noFill/>
        </p:spPr>
        <p:txBody>
          <a:bodyPr wrap="square">
            <a:spAutoFit/>
          </a:bodyPr>
          <a:lstStyle/>
          <a:p>
            <a:pPr algn="l"/>
            <a:r>
              <a:rPr sz="2200" b="1" i="0">
                <a:solidFill>
                  <a:srgbClr val="F4F4F2"/>
                </a:solidFill>
                <a:latin typeface="Calibri"/>
              </a:rPr>
              <a:t>Built on owning relationships.</a:t>
            </a:r>
          </a:p>
        </p:txBody>
      </p:sp>
      <p:sp>
        <p:nvSpPr>
          <p:cNvPr id="7" name="TextBox 6"/>
          <p:cNvSpPr txBox="1"/>
          <p:nvPr/>
        </p:nvSpPr>
        <p:spPr>
          <a:xfrm>
            <a:off x="274320" y="749808"/>
            <a:ext cx="11430000" cy="256032"/>
          </a:xfrm>
          <a:prstGeom prst="rect">
            <a:avLst/>
          </a:prstGeom>
          <a:noFill/>
        </p:spPr>
        <p:txBody>
          <a:bodyPr wrap="square">
            <a:spAutoFit/>
          </a:bodyPr>
          <a:lstStyle/>
          <a:p>
            <a:pPr algn="l"/>
            <a:r>
              <a:rPr sz="1000" b="0" i="0">
                <a:solidFill>
                  <a:srgbClr val="8B92A5"/>
                </a:solidFill>
                <a:latin typeface="Calibri"/>
              </a:rPr>
              <a:t>Every role built on one thing: earning the trust of the person across the table and making them successful.</a:t>
            </a:r>
          </a:p>
        </p:txBody>
      </p:sp>
      <p:sp>
        <p:nvSpPr>
          <p:cNvPr id="8" name="Rectangle 7"/>
          <p:cNvSpPr/>
          <p:nvPr/>
        </p:nvSpPr>
        <p:spPr>
          <a:xfrm>
            <a:off x="274320" y="1078992"/>
            <a:ext cx="128016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170432"/>
            <a:ext cx="3108960" cy="5504688"/>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 y="1280160"/>
            <a:ext cx="2834640" cy="256032"/>
          </a:xfrm>
          <a:prstGeom prst="rect">
            <a:avLst/>
          </a:prstGeom>
          <a:noFill/>
        </p:spPr>
        <p:txBody>
          <a:bodyPr wrap="square">
            <a:spAutoFit/>
          </a:bodyPr>
          <a:lstStyle/>
          <a:p>
            <a:pPr algn="l"/>
            <a:r>
              <a:rPr sz="1000" b="1" i="0">
                <a:solidFill>
                  <a:srgbClr val="00C9B1"/>
                </a:solidFill>
                <a:latin typeface="Calibri"/>
              </a:rPr>
              <a:t>Core Skills</a:t>
            </a:r>
          </a:p>
        </p:txBody>
      </p:sp>
      <p:sp>
        <p:nvSpPr>
          <p:cNvPr id="11" name="Rectangle 10"/>
          <p:cNvSpPr/>
          <p:nvPr/>
        </p:nvSpPr>
        <p:spPr>
          <a:xfrm>
            <a:off x="320040" y="1664208"/>
            <a:ext cx="2743200" cy="347472"/>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 y="1709928"/>
            <a:ext cx="2560320" cy="274320"/>
          </a:xfrm>
          <a:prstGeom prst="rect">
            <a:avLst/>
          </a:prstGeom>
          <a:noFill/>
        </p:spPr>
        <p:txBody>
          <a:bodyPr wrap="square">
            <a:spAutoFit/>
          </a:bodyPr>
          <a:lstStyle/>
          <a:p>
            <a:pPr algn="l"/>
            <a:r>
              <a:rPr sz="1000" b="0" i="0">
                <a:solidFill>
                  <a:srgbClr val="F4F4F2"/>
                </a:solidFill>
                <a:latin typeface="Calibri"/>
              </a:rPr>
              <a:t>Team Leadership &amp; Mentorship</a:t>
            </a:r>
          </a:p>
        </p:txBody>
      </p:sp>
      <p:sp>
        <p:nvSpPr>
          <p:cNvPr id="13" name="Rectangle 12"/>
          <p:cNvSpPr/>
          <p:nvPr/>
        </p:nvSpPr>
        <p:spPr>
          <a:xfrm>
            <a:off x="320040" y="2084832"/>
            <a:ext cx="2743200" cy="347472"/>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2130552"/>
            <a:ext cx="2560320" cy="274320"/>
          </a:xfrm>
          <a:prstGeom prst="rect">
            <a:avLst/>
          </a:prstGeom>
          <a:noFill/>
        </p:spPr>
        <p:txBody>
          <a:bodyPr wrap="square">
            <a:spAutoFit/>
          </a:bodyPr>
          <a:lstStyle/>
          <a:p>
            <a:pPr algn="l"/>
            <a:r>
              <a:rPr sz="1000" b="0" i="0">
                <a:solidFill>
                  <a:srgbClr val="F4F4F2"/>
                </a:solidFill>
                <a:latin typeface="Calibri"/>
              </a:rPr>
              <a:t>Enterprise Account Management</a:t>
            </a:r>
          </a:p>
        </p:txBody>
      </p:sp>
      <p:sp>
        <p:nvSpPr>
          <p:cNvPr id="15" name="Rectangle 14"/>
          <p:cNvSpPr/>
          <p:nvPr/>
        </p:nvSpPr>
        <p:spPr>
          <a:xfrm>
            <a:off x="320040" y="2505456"/>
            <a:ext cx="2743200" cy="347472"/>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 y="2551176"/>
            <a:ext cx="2560320" cy="274320"/>
          </a:xfrm>
          <a:prstGeom prst="rect">
            <a:avLst/>
          </a:prstGeom>
          <a:noFill/>
        </p:spPr>
        <p:txBody>
          <a:bodyPr wrap="square">
            <a:spAutoFit/>
          </a:bodyPr>
          <a:lstStyle/>
          <a:p>
            <a:pPr algn="l"/>
            <a:r>
              <a:rPr sz="1000" b="0" i="0">
                <a:solidFill>
                  <a:srgbClr val="F4F4F2"/>
                </a:solidFill>
                <a:latin typeface="Calibri"/>
              </a:rPr>
              <a:t>Salesforce &amp; CRM Governance</a:t>
            </a:r>
          </a:p>
        </p:txBody>
      </p:sp>
      <p:sp>
        <p:nvSpPr>
          <p:cNvPr id="17" name="Rectangle 16"/>
          <p:cNvSpPr/>
          <p:nvPr/>
        </p:nvSpPr>
        <p:spPr>
          <a:xfrm>
            <a:off x="320040" y="2926080"/>
            <a:ext cx="2743200" cy="347472"/>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 y="2971800"/>
            <a:ext cx="2560320" cy="274320"/>
          </a:xfrm>
          <a:prstGeom prst="rect">
            <a:avLst/>
          </a:prstGeom>
          <a:noFill/>
        </p:spPr>
        <p:txBody>
          <a:bodyPr wrap="square">
            <a:spAutoFit/>
          </a:bodyPr>
          <a:lstStyle/>
          <a:p>
            <a:pPr algn="l"/>
            <a:r>
              <a:rPr sz="1000" b="0" i="0">
                <a:solidFill>
                  <a:srgbClr val="F4F4F2"/>
                </a:solidFill>
                <a:latin typeface="Calibri"/>
              </a:rPr>
              <a:t>Stakeholder Engagement</a:t>
            </a:r>
          </a:p>
        </p:txBody>
      </p:sp>
      <p:sp>
        <p:nvSpPr>
          <p:cNvPr id="19" name="Rectangle 18"/>
          <p:cNvSpPr/>
          <p:nvPr/>
        </p:nvSpPr>
        <p:spPr>
          <a:xfrm>
            <a:off x="320040" y="3346704"/>
            <a:ext cx="2743200" cy="347472"/>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8912" y="3392424"/>
            <a:ext cx="2560320" cy="274320"/>
          </a:xfrm>
          <a:prstGeom prst="rect">
            <a:avLst/>
          </a:prstGeom>
          <a:noFill/>
        </p:spPr>
        <p:txBody>
          <a:bodyPr wrap="square">
            <a:spAutoFit/>
          </a:bodyPr>
          <a:lstStyle/>
          <a:p>
            <a:pPr algn="l"/>
            <a:r>
              <a:rPr sz="1000" b="0" i="0">
                <a:solidFill>
                  <a:srgbClr val="F4F4F2"/>
                </a:solidFill>
                <a:latin typeface="Calibri"/>
              </a:rPr>
              <a:t>Pipeline &amp; Revenue Strategy</a:t>
            </a:r>
          </a:p>
        </p:txBody>
      </p:sp>
      <p:sp>
        <p:nvSpPr>
          <p:cNvPr id="21" name="Rectangle 20"/>
          <p:cNvSpPr/>
          <p:nvPr/>
        </p:nvSpPr>
        <p:spPr>
          <a:xfrm>
            <a:off x="320040" y="3767328"/>
            <a:ext cx="2743200" cy="347472"/>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 y="3813048"/>
            <a:ext cx="2560320" cy="274320"/>
          </a:xfrm>
          <a:prstGeom prst="rect">
            <a:avLst/>
          </a:prstGeom>
          <a:noFill/>
        </p:spPr>
        <p:txBody>
          <a:bodyPr wrap="square">
            <a:spAutoFit/>
          </a:bodyPr>
          <a:lstStyle/>
          <a:p>
            <a:pPr algn="l"/>
            <a:r>
              <a:rPr sz="1000" b="0" i="0">
                <a:solidFill>
                  <a:srgbClr val="F4F4F2"/>
                </a:solidFill>
                <a:latin typeface="Calibri"/>
              </a:rPr>
              <a:t>AI-Led Selling</a:t>
            </a:r>
          </a:p>
        </p:txBody>
      </p:sp>
      <p:sp>
        <p:nvSpPr>
          <p:cNvPr id="23" name="TextBox 22"/>
          <p:cNvSpPr txBox="1"/>
          <p:nvPr/>
        </p:nvSpPr>
        <p:spPr>
          <a:xfrm>
            <a:off x="3566160" y="1170432"/>
            <a:ext cx="8366760" cy="201168"/>
          </a:xfrm>
          <a:prstGeom prst="rect">
            <a:avLst/>
          </a:prstGeom>
          <a:noFill/>
        </p:spPr>
        <p:txBody>
          <a:bodyPr wrap="square">
            <a:spAutoFit/>
          </a:bodyPr>
          <a:lstStyle/>
          <a:p>
            <a:pPr algn="l"/>
            <a:r>
              <a:rPr sz="800" b="1" i="0">
                <a:solidFill>
                  <a:srgbClr val="00C9B1"/>
                </a:solidFill>
                <a:latin typeface="Calibri"/>
              </a:rPr>
              <a:t>APR 2025 — PRESENT</a:t>
            </a:r>
          </a:p>
        </p:txBody>
      </p:sp>
      <p:sp>
        <p:nvSpPr>
          <p:cNvPr id="24" name="TextBox 23"/>
          <p:cNvSpPr txBox="1"/>
          <p:nvPr/>
        </p:nvSpPr>
        <p:spPr>
          <a:xfrm>
            <a:off x="3566160" y="1371600"/>
            <a:ext cx="8366760" cy="310896"/>
          </a:xfrm>
          <a:prstGeom prst="rect">
            <a:avLst/>
          </a:prstGeom>
          <a:noFill/>
        </p:spPr>
        <p:txBody>
          <a:bodyPr wrap="square">
            <a:spAutoFit/>
          </a:bodyPr>
          <a:lstStyle/>
          <a:p>
            <a:pPr algn="l"/>
            <a:r>
              <a:rPr sz="1300" b="1" i="0">
                <a:solidFill>
                  <a:srgbClr val="F4F4F2"/>
                </a:solidFill>
                <a:latin typeface="Calibri"/>
              </a:rPr>
              <a:t>Senior Sales Development Executive</a:t>
            </a:r>
          </a:p>
        </p:txBody>
      </p:sp>
      <p:sp>
        <p:nvSpPr>
          <p:cNvPr id="25" name="TextBox 24"/>
          <p:cNvSpPr txBox="1"/>
          <p:nvPr/>
        </p:nvSpPr>
        <p:spPr>
          <a:xfrm>
            <a:off x="3566160" y="1682496"/>
            <a:ext cx="8366760" cy="201168"/>
          </a:xfrm>
          <a:prstGeom prst="rect">
            <a:avLst/>
          </a:prstGeom>
          <a:noFill/>
        </p:spPr>
        <p:txBody>
          <a:bodyPr wrap="square">
            <a:spAutoFit/>
          </a:bodyPr>
          <a:lstStyle/>
          <a:p>
            <a:pPr algn="l"/>
            <a:r>
              <a:rPr sz="900" b="0" i="0">
                <a:solidFill>
                  <a:srgbClr val="00C9B1"/>
                </a:solidFill>
                <a:latin typeface="Calibri"/>
              </a:rPr>
              <a:t>SAP · Cairo, Egypt</a:t>
            </a:r>
          </a:p>
        </p:txBody>
      </p:sp>
      <p:sp>
        <p:nvSpPr>
          <p:cNvPr id="26" name="TextBox 25"/>
          <p:cNvSpPr txBox="1"/>
          <p:nvPr/>
        </p:nvSpPr>
        <p:spPr>
          <a:xfrm>
            <a:off x="3566160" y="1883664"/>
            <a:ext cx="8366760" cy="658368"/>
          </a:xfrm>
          <a:prstGeom prst="rect">
            <a:avLst/>
          </a:prstGeom>
          <a:noFill/>
        </p:spPr>
        <p:txBody>
          <a:bodyPr wrap="square">
            <a:spAutoFit/>
          </a:bodyPr>
          <a:lstStyle/>
          <a:p>
            <a:pPr algn="l"/>
            <a:r>
              <a:rPr sz="950" b="0" i="0">
                <a:solidFill>
                  <a:srgbClr val="8B92A5"/>
                </a:solidFill>
                <a:latin typeface="Calibri"/>
              </a:rPr>
              <a:t>Senior SDE at SAP driving enterprise pipeline across Egypt. Senior stakeholder engagement, structured outreach, and close collaboration with AEs to move opportunities from first meeting to signed deal. Currently serving as team leader for MEA North.</a:t>
            </a:r>
          </a:p>
        </p:txBody>
      </p:sp>
      <p:sp>
        <p:nvSpPr>
          <p:cNvPr id="27" name="Rectangle 26"/>
          <p:cNvSpPr/>
          <p:nvPr/>
        </p:nvSpPr>
        <p:spPr>
          <a:xfrm>
            <a:off x="3566160" y="2560320"/>
            <a:ext cx="2103120" cy="2286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611880" y="2560320"/>
            <a:ext cx="2011680" cy="228600"/>
          </a:xfrm>
          <a:prstGeom prst="rect">
            <a:avLst/>
          </a:prstGeom>
          <a:noFill/>
        </p:spPr>
        <p:txBody>
          <a:bodyPr wrap="square">
            <a:spAutoFit/>
          </a:bodyPr>
          <a:lstStyle/>
          <a:p>
            <a:pPr algn="l"/>
            <a:r>
              <a:rPr sz="800" b="1" i="0">
                <a:solidFill>
                  <a:srgbClr val="111318"/>
                </a:solidFill>
                <a:latin typeface="Calibri"/>
              </a:rPr>
              <a:t>Team Leader · MEA North</a:t>
            </a:r>
          </a:p>
        </p:txBody>
      </p:sp>
      <p:sp>
        <p:nvSpPr>
          <p:cNvPr id="29" name="Rectangle 28"/>
          <p:cNvSpPr/>
          <p:nvPr/>
        </p:nvSpPr>
        <p:spPr>
          <a:xfrm>
            <a:off x="3566160" y="2871216"/>
            <a:ext cx="8366760" cy="25400"/>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66160" y="2953512"/>
            <a:ext cx="8366760" cy="201168"/>
          </a:xfrm>
          <a:prstGeom prst="rect">
            <a:avLst/>
          </a:prstGeom>
          <a:noFill/>
        </p:spPr>
        <p:txBody>
          <a:bodyPr wrap="square">
            <a:spAutoFit/>
          </a:bodyPr>
          <a:lstStyle/>
          <a:p>
            <a:pPr algn="l"/>
            <a:r>
              <a:rPr sz="800" b="1" i="0">
                <a:solidFill>
                  <a:srgbClr val="00C9B1"/>
                </a:solidFill>
                <a:latin typeface="Calibri"/>
              </a:rPr>
              <a:t>FEB 2022 — APR 2025</a:t>
            </a:r>
          </a:p>
        </p:txBody>
      </p:sp>
      <p:sp>
        <p:nvSpPr>
          <p:cNvPr id="31" name="TextBox 30"/>
          <p:cNvSpPr txBox="1"/>
          <p:nvPr/>
        </p:nvSpPr>
        <p:spPr>
          <a:xfrm>
            <a:off x="3566160" y="3154680"/>
            <a:ext cx="8366760" cy="310896"/>
          </a:xfrm>
          <a:prstGeom prst="rect">
            <a:avLst/>
          </a:prstGeom>
          <a:noFill/>
        </p:spPr>
        <p:txBody>
          <a:bodyPr wrap="square">
            <a:spAutoFit/>
          </a:bodyPr>
          <a:lstStyle/>
          <a:p>
            <a:pPr algn="l"/>
            <a:r>
              <a:rPr sz="1300" b="1" i="0">
                <a:solidFill>
                  <a:srgbClr val="F4F4F2"/>
                </a:solidFill>
                <a:latin typeface="Calibri"/>
              </a:rPr>
              <a:t>Data &amp; AI Technical Sales Specialist</a:t>
            </a:r>
          </a:p>
        </p:txBody>
      </p:sp>
      <p:sp>
        <p:nvSpPr>
          <p:cNvPr id="32" name="TextBox 31"/>
          <p:cNvSpPr txBox="1"/>
          <p:nvPr/>
        </p:nvSpPr>
        <p:spPr>
          <a:xfrm>
            <a:off x="3566160" y="3465576"/>
            <a:ext cx="8366760" cy="201168"/>
          </a:xfrm>
          <a:prstGeom prst="rect">
            <a:avLst/>
          </a:prstGeom>
          <a:noFill/>
        </p:spPr>
        <p:txBody>
          <a:bodyPr wrap="square">
            <a:spAutoFit/>
          </a:bodyPr>
          <a:lstStyle/>
          <a:p>
            <a:pPr algn="l"/>
            <a:r>
              <a:rPr sz="900" b="0" i="0">
                <a:solidFill>
                  <a:srgbClr val="00C9B1"/>
                </a:solidFill>
                <a:latin typeface="Calibri"/>
              </a:rPr>
              <a:t>IBM · Cairo, Egypt</a:t>
            </a:r>
          </a:p>
        </p:txBody>
      </p:sp>
      <p:sp>
        <p:nvSpPr>
          <p:cNvPr id="33" name="TextBox 32"/>
          <p:cNvSpPr txBox="1"/>
          <p:nvPr/>
        </p:nvSpPr>
        <p:spPr>
          <a:xfrm>
            <a:off x="3566160" y="3666744"/>
            <a:ext cx="8366760" cy="658368"/>
          </a:xfrm>
          <a:prstGeom prst="rect">
            <a:avLst/>
          </a:prstGeom>
          <a:noFill/>
        </p:spPr>
        <p:txBody>
          <a:bodyPr wrap="square">
            <a:spAutoFit/>
          </a:bodyPr>
          <a:lstStyle/>
          <a:p>
            <a:pPr algn="l"/>
            <a:r>
              <a:rPr sz="950" b="0" i="0">
                <a:solidFill>
                  <a:srgbClr val="8B92A5"/>
                </a:solidFill>
                <a:latin typeface="Calibri"/>
              </a:rPr>
              <a:t>Owned the full technical sales cycle for enterprise clients. Built ROI models, delivered executive-level demos and POCs. Became the trusted advisor for IBM business partners across Egypt, South Africa, and Turkey on all things Data &amp; AI.</a:t>
            </a:r>
          </a:p>
        </p:txBody>
      </p:sp>
      <p:sp>
        <p:nvSpPr>
          <p:cNvPr id="34" name="Rectangle 33"/>
          <p:cNvSpPr/>
          <p:nvPr/>
        </p:nvSpPr>
        <p:spPr>
          <a:xfrm>
            <a:off x="3566160" y="4654296"/>
            <a:ext cx="8366760" cy="25400"/>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566160" y="4736592"/>
            <a:ext cx="8366760" cy="201168"/>
          </a:xfrm>
          <a:prstGeom prst="rect">
            <a:avLst/>
          </a:prstGeom>
          <a:noFill/>
        </p:spPr>
        <p:txBody>
          <a:bodyPr wrap="square">
            <a:spAutoFit/>
          </a:bodyPr>
          <a:lstStyle/>
          <a:p>
            <a:pPr algn="l"/>
            <a:r>
              <a:rPr sz="800" b="1" i="0">
                <a:solidFill>
                  <a:srgbClr val="00C9B1"/>
                </a:solidFill>
                <a:latin typeface="Calibri"/>
              </a:rPr>
              <a:t>APR 2017 — FEB 2022</a:t>
            </a:r>
          </a:p>
        </p:txBody>
      </p:sp>
      <p:sp>
        <p:nvSpPr>
          <p:cNvPr id="36" name="TextBox 35"/>
          <p:cNvSpPr txBox="1"/>
          <p:nvPr/>
        </p:nvSpPr>
        <p:spPr>
          <a:xfrm>
            <a:off x="3566160" y="4937760"/>
            <a:ext cx="8366760" cy="310896"/>
          </a:xfrm>
          <a:prstGeom prst="rect">
            <a:avLst/>
          </a:prstGeom>
          <a:noFill/>
        </p:spPr>
        <p:txBody>
          <a:bodyPr wrap="square">
            <a:spAutoFit/>
          </a:bodyPr>
          <a:lstStyle/>
          <a:p>
            <a:pPr algn="l"/>
            <a:r>
              <a:rPr sz="1300" b="1" i="0">
                <a:solidFill>
                  <a:srgbClr val="F4F4F2"/>
                </a:solidFill>
                <a:latin typeface="Calibri"/>
              </a:rPr>
              <a:t>IBM Cloud Developer Advocate Manager</a:t>
            </a:r>
          </a:p>
        </p:txBody>
      </p:sp>
      <p:sp>
        <p:nvSpPr>
          <p:cNvPr id="37" name="TextBox 36"/>
          <p:cNvSpPr txBox="1"/>
          <p:nvPr/>
        </p:nvSpPr>
        <p:spPr>
          <a:xfrm>
            <a:off x="3566160" y="5248656"/>
            <a:ext cx="8366760" cy="201168"/>
          </a:xfrm>
          <a:prstGeom prst="rect">
            <a:avLst/>
          </a:prstGeom>
          <a:noFill/>
        </p:spPr>
        <p:txBody>
          <a:bodyPr wrap="square">
            <a:spAutoFit/>
          </a:bodyPr>
          <a:lstStyle/>
          <a:p>
            <a:pPr algn="l"/>
            <a:r>
              <a:rPr sz="900" b="0" i="0">
                <a:solidFill>
                  <a:srgbClr val="00C9B1"/>
                </a:solidFill>
                <a:latin typeface="Calibri"/>
              </a:rPr>
              <a:t>IBM · Cairo, Egypt</a:t>
            </a:r>
          </a:p>
        </p:txBody>
      </p:sp>
      <p:sp>
        <p:nvSpPr>
          <p:cNvPr id="38" name="TextBox 37"/>
          <p:cNvSpPr txBox="1"/>
          <p:nvPr/>
        </p:nvSpPr>
        <p:spPr>
          <a:xfrm>
            <a:off x="3566160" y="5449824"/>
            <a:ext cx="8366760" cy="658368"/>
          </a:xfrm>
          <a:prstGeom prst="rect">
            <a:avLst/>
          </a:prstGeom>
          <a:noFill/>
        </p:spPr>
        <p:txBody>
          <a:bodyPr wrap="square">
            <a:spAutoFit/>
          </a:bodyPr>
          <a:lstStyle/>
          <a:p>
            <a:pPr algn="l"/>
            <a:r>
              <a:rPr sz="950" b="0" i="0">
                <a:solidFill>
                  <a:srgbClr val="8B92A5"/>
                </a:solidFill>
                <a:latin typeface="Calibri"/>
              </a:rPr>
              <a:t>Led a team of Developer Advocates across MEA. Drove 40% increase in active engagement and personally secured 200+ new startup partners. Built C-level relationships that shaped cloud adoption strategies region-wide.</a:t>
            </a:r>
          </a:p>
        </p:txBody>
      </p:sp>
      <p:sp>
        <p:nvSpPr>
          <p:cNvPr id="39" name="Rectangle 38"/>
          <p:cNvSpPr/>
          <p:nvPr/>
        </p:nvSpPr>
        <p:spPr>
          <a:xfrm>
            <a:off x="3566160" y="6126480"/>
            <a:ext cx="2103120" cy="2286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11880" y="6126480"/>
            <a:ext cx="2011680" cy="228600"/>
          </a:xfrm>
          <a:prstGeom prst="rect">
            <a:avLst/>
          </a:prstGeom>
          <a:noFill/>
        </p:spPr>
        <p:txBody>
          <a:bodyPr wrap="square">
            <a:spAutoFit/>
          </a:bodyPr>
          <a:lstStyle/>
          <a:p>
            <a:pPr algn="l"/>
            <a:r>
              <a:rPr sz="800" b="1" i="0">
                <a:solidFill>
                  <a:srgbClr val="111318"/>
                </a:solidFill>
                <a:latin typeface="Calibri"/>
              </a:rPr>
              <a:t>Team Manager · Developer Advocacy</a:t>
            </a:r>
          </a:p>
        </p:txBody>
      </p:sp>
      <p:sp>
        <p:nvSpPr>
          <p:cNvPr id="41" name="Rectangle 40"/>
          <p:cNvSpPr/>
          <p:nvPr/>
        </p:nvSpPr>
        <p:spPr>
          <a:xfrm>
            <a:off x="3566160" y="6437376"/>
            <a:ext cx="8366760" cy="25400"/>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182880" y="6446520"/>
            <a:ext cx="11914632" cy="320040"/>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20040" y="6492240"/>
            <a:ext cx="11640312" cy="256032"/>
          </a:xfrm>
          <a:prstGeom prst="rect">
            <a:avLst/>
          </a:prstGeom>
          <a:noFill/>
        </p:spPr>
        <p:txBody>
          <a:bodyPr wrap="square">
            <a:spAutoFit/>
          </a:bodyPr>
          <a:lstStyle/>
          <a:p>
            <a:pPr algn="l"/>
            <a:r>
              <a:rPr sz="900" b="0" i="0">
                <a:solidFill>
                  <a:srgbClr val="8B92A5"/>
                </a:solidFill>
                <a:latin typeface="Calibri"/>
              </a:rPr>
              <a:t>BSc Computer Science, AUC (GPA 3.8)  ·  MBA, Edinburgh Business School (ongoing)  ·  Summer Abroad: UC Berkeley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113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0"/>
            <a:ext cx="12134088" cy="105156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9144000" cy="256032"/>
          </a:xfrm>
          <a:prstGeom prst="rect">
            <a:avLst/>
          </a:prstGeom>
          <a:noFill/>
        </p:spPr>
        <p:txBody>
          <a:bodyPr wrap="square">
            <a:spAutoFit/>
          </a:bodyPr>
          <a:lstStyle/>
          <a:p>
            <a:pPr algn="l"/>
            <a:r>
              <a:rPr sz="900" b="1" i="0">
                <a:solidFill>
                  <a:srgbClr val="00C9B1"/>
                </a:solidFill>
                <a:latin typeface="Calibri"/>
              </a:rPr>
              <a:t>ACHIEVEMENT I'M PROUD OF</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200" b="1" i="0">
                <a:solidFill>
                  <a:srgbClr val="F4F4F2"/>
                </a:solidFill>
                <a:latin typeface="Calibri"/>
              </a:rPr>
              <a:t>Hitting target twice. The second time before I even had a full year.</a:t>
            </a:r>
          </a:p>
        </p:txBody>
      </p:sp>
      <p:sp>
        <p:nvSpPr>
          <p:cNvPr id="7" name="TextBox 6"/>
          <p:cNvSpPr txBox="1"/>
          <p:nvPr/>
        </p:nvSpPr>
        <p:spPr>
          <a:xfrm>
            <a:off x="274320" y="768096"/>
            <a:ext cx="11430000" cy="237744"/>
          </a:xfrm>
          <a:prstGeom prst="rect">
            <a:avLst/>
          </a:prstGeom>
          <a:noFill/>
        </p:spPr>
        <p:txBody>
          <a:bodyPr wrap="square">
            <a:spAutoFit/>
          </a:bodyPr>
          <a:lstStyle/>
          <a:p>
            <a:pPr algn="l"/>
            <a:r>
              <a:rPr sz="1000" b="0" i="0">
                <a:solidFill>
                  <a:srgbClr val="8B92A5"/>
                </a:solidFill>
                <a:latin typeface="Calibri"/>
              </a:rPr>
              <a:t>SAP · MEA North · 2025</a:t>
            </a:r>
          </a:p>
        </p:txBody>
      </p:sp>
      <p:sp>
        <p:nvSpPr>
          <p:cNvPr id="8" name="Rectangle 7"/>
          <p:cNvSpPr/>
          <p:nvPr/>
        </p:nvSpPr>
        <p:spPr>
          <a:xfrm>
            <a:off x="274320" y="1078992"/>
            <a:ext cx="128016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170432"/>
            <a:ext cx="4206240" cy="5504688"/>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1170432"/>
            <a:ext cx="420624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325880"/>
            <a:ext cx="3840480" cy="1005840"/>
          </a:xfrm>
          <a:prstGeom prst="rect">
            <a:avLst/>
          </a:prstGeom>
          <a:noFill/>
        </p:spPr>
        <p:txBody>
          <a:bodyPr wrap="square">
            <a:spAutoFit/>
          </a:bodyPr>
          <a:lstStyle/>
          <a:p>
            <a:pPr algn="l"/>
            <a:r>
              <a:rPr sz="7200" b="1" i="0">
                <a:solidFill>
                  <a:srgbClr val="00C9B1"/>
                </a:solidFill>
                <a:latin typeface="Calibri"/>
              </a:rPr>
              <a:t>140%</a:t>
            </a:r>
          </a:p>
        </p:txBody>
      </p:sp>
      <p:sp>
        <p:nvSpPr>
          <p:cNvPr id="12" name="TextBox 11"/>
          <p:cNvSpPr txBox="1"/>
          <p:nvPr/>
        </p:nvSpPr>
        <p:spPr>
          <a:xfrm>
            <a:off x="365760" y="2395728"/>
            <a:ext cx="3749039" cy="777240"/>
          </a:xfrm>
          <a:prstGeom prst="rect">
            <a:avLst/>
          </a:prstGeom>
          <a:noFill/>
        </p:spPr>
        <p:txBody>
          <a:bodyPr wrap="square">
            <a:spAutoFit/>
          </a:bodyPr>
          <a:lstStyle/>
          <a:p>
            <a:pPr algn="l"/>
            <a:r>
              <a:rPr sz="1100" b="0" i="0">
                <a:solidFill>
                  <a:srgbClr val="F4F4F2"/>
                </a:solidFill>
                <a:latin typeface="Calibri"/>
              </a:rPr>
              <a:t>of sales target this year at SAP.
100% the year before, joining
4 months into the cycle.</a:t>
            </a:r>
          </a:p>
        </p:txBody>
      </p:sp>
      <p:sp>
        <p:nvSpPr>
          <p:cNvPr id="13" name="Rectangle 12"/>
          <p:cNvSpPr/>
          <p:nvPr/>
        </p:nvSpPr>
        <p:spPr>
          <a:xfrm>
            <a:off x="365760" y="3291840"/>
            <a:ext cx="3657600" cy="25400"/>
          </a:xfrm>
          <a:prstGeom prst="rect">
            <a:avLst/>
          </a:prstGeom>
          <a:solidFill>
            <a:srgbClr val="1E23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401568"/>
            <a:ext cx="3657600" cy="640080"/>
          </a:xfrm>
          <a:prstGeom prst="rect">
            <a:avLst/>
          </a:prstGeom>
          <a:noFill/>
        </p:spPr>
        <p:txBody>
          <a:bodyPr wrap="square">
            <a:spAutoFit/>
          </a:bodyPr>
          <a:lstStyle/>
          <a:p>
            <a:pPr algn="l"/>
            <a:r>
              <a:rPr sz="1000" b="0" i="1">
                <a:solidFill>
                  <a:srgbClr val="8B92A5"/>
                </a:solidFill>
                <a:latin typeface="Calibri"/>
              </a:rPr>
              <a:t>"I don't wait for conditions to be perfect. I build the conditions."</a:t>
            </a:r>
          </a:p>
        </p:txBody>
      </p:sp>
      <p:sp>
        <p:nvSpPr>
          <p:cNvPr id="15" name="Rectangle 14"/>
          <p:cNvSpPr/>
          <p:nvPr/>
        </p:nvSpPr>
        <p:spPr>
          <a:xfrm>
            <a:off x="4663440" y="1216152"/>
            <a:ext cx="7315200" cy="10972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663440" y="1216152"/>
            <a:ext cx="64008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28032" y="1307592"/>
            <a:ext cx="7040880" cy="274320"/>
          </a:xfrm>
          <a:prstGeom prst="rect">
            <a:avLst/>
          </a:prstGeom>
          <a:noFill/>
        </p:spPr>
        <p:txBody>
          <a:bodyPr wrap="square">
            <a:spAutoFit/>
          </a:bodyPr>
          <a:lstStyle/>
          <a:p>
            <a:pPr algn="l"/>
            <a:r>
              <a:rPr sz="1100" b="1" i="0">
                <a:solidFill>
                  <a:srgbClr val="00C9B1"/>
                </a:solidFill>
                <a:latin typeface="Calibri"/>
              </a:rPr>
              <a:t>◆  100% in year one</a:t>
            </a:r>
          </a:p>
        </p:txBody>
      </p:sp>
      <p:sp>
        <p:nvSpPr>
          <p:cNvPr id="18" name="TextBox 17"/>
          <p:cNvSpPr txBox="1"/>
          <p:nvPr/>
        </p:nvSpPr>
        <p:spPr>
          <a:xfrm>
            <a:off x="4828032" y="1600200"/>
            <a:ext cx="7040880" cy="621792"/>
          </a:xfrm>
          <a:prstGeom prst="rect">
            <a:avLst/>
          </a:prstGeom>
          <a:noFill/>
        </p:spPr>
        <p:txBody>
          <a:bodyPr wrap="square">
            <a:spAutoFit/>
          </a:bodyPr>
          <a:lstStyle/>
          <a:p>
            <a:pPr algn="l"/>
            <a:r>
              <a:rPr sz="1000" b="0" i="0">
                <a:solidFill>
                  <a:srgbClr val="F4F4F2"/>
                </a:solidFill>
                <a:latin typeface="Calibri"/>
              </a:rPr>
              <a:t>Full target delivered with only 8 months in role, new market and new product portfolio</a:t>
            </a:r>
          </a:p>
        </p:txBody>
      </p:sp>
      <p:sp>
        <p:nvSpPr>
          <p:cNvPr id="19" name="Rectangle 18"/>
          <p:cNvSpPr/>
          <p:nvPr/>
        </p:nvSpPr>
        <p:spPr>
          <a:xfrm>
            <a:off x="4663440" y="2404872"/>
            <a:ext cx="7315200" cy="10972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663440" y="2404872"/>
            <a:ext cx="64008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28032" y="2496312"/>
            <a:ext cx="7040880" cy="274320"/>
          </a:xfrm>
          <a:prstGeom prst="rect">
            <a:avLst/>
          </a:prstGeom>
          <a:noFill/>
        </p:spPr>
        <p:txBody>
          <a:bodyPr wrap="square">
            <a:spAutoFit/>
          </a:bodyPr>
          <a:lstStyle/>
          <a:p>
            <a:pPr algn="l"/>
            <a:r>
              <a:rPr sz="1100" b="1" i="0">
                <a:solidFill>
                  <a:srgbClr val="00C9B1"/>
                </a:solidFill>
                <a:latin typeface="Calibri"/>
              </a:rPr>
              <a:t>◆  140% this year</a:t>
            </a:r>
          </a:p>
        </p:txBody>
      </p:sp>
      <p:sp>
        <p:nvSpPr>
          <p:cNvPr id="22" name="TextBox 21"/>
          <p:cNvSpPr txBox="1"/>
          <p:nvPr/>
        </p:nvSpPr>
        <p:spPr>
          <a:xfrm>
            <a:off x="4828032" y="2788920"/>
            <a:ext cx="7040880" cy="621792"/>
          </a:xfrm>
          <a:prstGeom prst="rect">
            <a:avLst/>
          </a:prstGeom>
          <a:noFill/>
        </p:spPr>
        <p:txBody>
          <a:bodyPr wrap="square">
            <a:spAutoFit/>
          </a:bodyPr>
          <a:lstStyle/>
          <a:p>
            <a:pPr algn="l"/>
            <a:r>
              <a:rPr sz="1000" b="0" i="0">
                <a:solidFill>
                  <a:srgbClr val="F4F4F2"/>
                </a:solidFill>
                <a:latin typeface="Calibri"/>
              </a:rPr>
              <a:t>Exceeded target while simultaneously taking on team leadership for MEA North</a:t>
            </a:r>
          </a:p>
        </p:txBody>
      </p:sp>
      <p:sp>
        <p:nvSpPr>
          <p:cNvPr id="23" name="Rectangle 22"/>
          <p:cNvSpPr/>
          <p:nvPr/>
        </p:nvSpPr>
        <p:spPr>
          <a:xfrm>
            <a:off x="4663440" y="3593592"/>
            <a:ext cx="7315200" cy="10972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63440" y="3593592"/>
            <a:ext cx="64008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28032" y="3685032"/>
            <a:ext cx="7040880" cy="274320"/>
          </a:xfrm>
          <a:prstGeom prst="rect">
            <a:avLst/>
          </a:prstGeom>
          <a:noFill/>
        </p:spPr>
        <p:txBody>
          <a:bodyPr wrap="square">
            <a:spAutoFit/>
          </a:bodyPr>
          <a:lstStyle/>
          <a:p>
            <a:pPr algn="l"/>
            <a:r>
              <a:rPr sz="1100" b="1" i="0">
                <a:solidFill>
                  <a:srgbClr val="00C9B1"/>
                </a:solidFill>
                <a:latin typeface="Calibri"/>
              </a:rPr>
              <a:t>◆  AI-powered prospecting</a:t>
            </a:r>
          </a:p>
        </p:txBody>
      </p:sp>
      <p:sp>
        <p:nvSpPr>
          <p:cNvPr id="26" name="TextBox 25"/>
          <p:cNvSpPr txBox="1"/>
          <p:nvPr/>
        </p:nvSpPr>
        <p:spPr>
          <a:xfrm>
            <a:off x="4828032" y="3977640"/>
            <a:ext cx="7040880" cy="621792"/>
          </a:xfrm>
          <a:prstGeom prst="rect">
            <a:avLst/>
          </a:prstGeom>
          <a:noFill/>
        </p:spPr>
        <p:txBody>
          <a:bodyPr wrap="square">
            <a:spAutoFit/>
          </a:bodyPr>
          <a:lstStyle/>
          <a:p>
            <a:pPr algn="l"/>
            <a:r>
              <a:rPr sz="1000" b="0" i="0">
                <a:solidFill>
                  <a:srgbClr val="F4F4F2"/>
                </a:solidFill>
                <a:latin typeface="Calibri"/>
              </a:rPr>
              <a:t>Used AI to identify the right accounts and personas, turning cold outreach into precision targeting</a:t>
            </a:r>
          </a:p>
        </p:txBody>
      </p:sp>
      <p:sp>
        <p:nvSpPr>
          <p:cNvPr id="27" name="Rectangle 26"/>
          <p:cNvSpPr/>
          <p:nvPr/>
        </p:nvSpPr>
        <p:spPr>
          <a:xfrm>
            <a:off x="4663440" y="4782312"/>
            <a:ext cx="7315200" cy="10972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663440" y="4782312"/>
            <a:ext cx="64008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828032" y="4873752"/>
            <a:ext cx="7040880" cy="274320"/>
          </a:xfrm>
          <a:prstGeom prst="rect">
            <a:avLst/>
          </a:prstGeom>
          <a:noFill/>
        </p:spPr>
        <p:txBody>
          <a:bodyPr wrap="square">
            <a:spAutoFit/>
          </a:bodyPr>
          <a:lstStyle/>
          <a:p>
            <a:pPr algn="l"/>
            <a:r>
              <a:rPr sz="1100" b="1" i="0">
                <a:solidFill>
                  <a:srgbClr val="00C9B1"/>
                </a:solidFill>
                <a:latin typeface="Calibri"/>
              </a:rPr>
              <a:t>◆  Lead and deliver</a:t>
            </a:r>
          </a:p>
        </p:txBody>
      </p:sp>
      <p:sp>
        <p:nvSpPr>
          <p:cNvPr id="30" name="TextBox 29"/>
          <p:cNvSpPr txBox="1"/>
          <p:nvPr/>
        </p:nvSpPr>
        <p:spPr>
          <a:xfrm>
            <a:off x="4828032" y="5166360"/>
            <a:ext cx="7040880" cy="621792"/>
          </a:xfrm>
          <a:prstGeom prst="rect">
            <a:avLst/>
          </a:prstGeom>
          <a:noFill/>
        </p:spPr>
        <p:txBody>
          <a:bodyPr wrap="square">
            <a:spAutoFit/>
          </a:bodyPr>
          <a:lstStyle/>
          <a:p>
            <a:pPr algn="l"/>
            <a:r>
              <a:rPr sz="1000" b="0" i="0">
                <a:solidFill>
                  <a:srgbClr val="F4F4F2"/>
                </a:solidFill>
                <a:latin typeface="Calibri"/>
              </a:rPr>
              <a:t>Hit personal targets while leading the MEA North SDE team, proving I can do both at once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113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 y="0"/>
            <a:ext cx="12134088" cy="105156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91440"/>
            <a:ext cx="9144000" cy="256032"/>
          </a:xfrm>
          <a:prstGeom prst="rect">
            <a:avLst/>
          </a:prstGeom>
          <a:noFill/>
        </p:spPr>
        <p:txBody>
          <a:bodyPr wrap="square">
            <a:spAutoFit/>
          </a:bodyPr>
          <a:lstStyle/>
          <a:p>
            <a:pPr algn="l"/>
            <a:r>
              <a:rPr sz="900" b="1" i="0">
                <a:solidFill>
                  <a:srgbClr val="00C9B1"/>
                </a:solidFill>
                <a:latin typeface="Calibri"/>
              </a:rPr>
              <a:t>VALUE TO THIS ROLE</a:t>
            </a:r>
          </a:p>
        </p:txBody>
      </p:sp>
      <p:sp>
        <p:nvSpPr>
          <p:cNvPr id="6" name="TextBox 5"/>
          <p:cNvSpPr txBox="1"/>
          <p:nvPr/>
        </p:nvSpPr>
        <p:spPr>
          <a:xfrm>
            <a:off x="274320" y="292608"/>
            <a:ext cx="11430000" cy="475488"/>
          </a:xfrm>
          <a:prstGeom prst="rect">
            <a:avLst/>
          </a:prstGeom>
          <a:noFill/>
        </p:spPr>
        <p:txBody>
          <a:bodyPr wrap="square">
            <a:spAutoFit/>
          </a:bodyPr>
          <a:lstStyle/>
          <a:p>
            <a:pPr algn="l"/>
            <a:r>
              <a:rPr sz="2200" b="1" i="0">
                <a:solidFill>
                  <a:srgbClr val="F4F4F2"/>
                </a:solidFill>
                <a:latin typeface="Calibri"/>
              </a:rPr>
              <a:t>I don't just manage accounts. I build the system that makes account management work.</a:t>
            </a:r>
          </a:p>
        </p:txBody>
      </p:sp>
      <p:sp>
        <p:nvSpPr>
          <p:cNvPr id="7" name="TextBox 6"/>
          <p:cNvSpPr txBox="1"/>
          <p:nvPr/>
        </p:nvSpPr>
        <p:spPr>
          <a:xfrm>
            <a:off x="274320" y="768096"/>
            <a:ext cx="11430000" cy="237744"/>
          </a:xfrm>
          <a:prstGeom prst="rect">
            <a:avLst/>
          </a:prstGeom>
          <a:noFill/>
        </p:spPr>
        <p:txBody>
          <a:bodyPr wrap="square">
            <a:spAutoFit/>
          </a:bodyPr>
          <a:lstStyle/>
          <a:p>
            <a:pPr algn="l"/>
            <a:r>
              <a:rPr sz="1000" b="0" i="0">
                <a:solidFill>
                  <a:srgbClr val="8B92A5"/>
                </a:solidFill>
                <a:latin typeface="Calibri"/>
              </a:rPr>
              <a:t>Every point below is grounded in something I have actually done.</a:t>
            </a:r>
          </a:p>
        </p:txBody>
      </p:sp>
      <p:sp>
        <p:nvSpPr>
          <p:cNvPr id="8" name="Rectangle 7"/>
          <p:cNvSpPr/>
          <p:nvPr/>
        </p:nvSpPr>
        <p:spPr>
          <a:xfrm>
            <a:off x="274320" y="1078992"/>
            <a:ext cx="1280160"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170432"/>
            <a:ext cx="3858768" cy="17830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1170432"/>
            <a:ext cx="3858768"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1261872"/>
            <a:ext cx="3630168" cy="320040"/>
          </a:xfrm>
          <a:prstGeom prst="rect">
            <a:avLst/>
          </a:prstGeom>
          <a:noFill/>
        </p:spPr>
        <p:txBody>
          <a:bodyPr wrap="square">
            <a:spAutoFit/>
          </a:bodyPr>
          <a:lstStyle/>
          <a:p>
            <a:pPr algn="l"/>
            <a:r>
              <a:rPr sz="1100" b="1" i="0">
                <a:solidFill>
                  <a:srgbClr val="F4F4F2"/>
                </a:solidFill>
                <a:latin typeface="Calibri"/>
              </a:rPr>
              <a:t>Client Ownership &amp; Cadence</a:t>
            </a:r>
          </a:p>
        </p:txBody>
      </p:sp>
      <p:sp>
        <p:nvSpPr>
          <p:cNvPr id="12" name="TextBox 11"/>
          <p:cNvSpPr txBox="1"/>
          <p:nvPr/>
        </p:nvSpPr>
        <p:spPr>
          <a:xfrm>
            <a:off x="347472" y="1609344"/>
            <a:ext cx="3630168" cy="1234440"/>
          </a:xfrm>
          <a:prstGeom prst="rect">
            <a:avLst/>
          </a:prstGeom>
          <a:noFill/>
        </p:spPr>
        <p:txBody>
          <a:bodyPr wrap="square">
            <a:spAutoFit/>
          </a:bodyPr>
          <a:lstStyle/>
          <a:p>
            <a:pPr algn="l"/>
            <a:r>
              <a:rPr sz="950" b="0" i="0">
                <a:solidFill>
                  <a:srgbClr val="8B92A5"/>
                </a:solidFill>
                <a:latin typeface="Calibri"/>
              </a:rPr>
              <a:t>Owned enterprise relationships end-to-end at IBM and SAP: first call to executive review. 140% this year, 100% last year joining 4 months late. I know how to sustain a healthy account rhythm across a complex portfolio.</a:t>
            </a:r>
          </a:p>
        </p:txBody>
      </p:sp>
      <p:sp>
        <p:nvSpPr>
          <p:cNvPr id="13" name="Rectangle 12"/>
          <p:cNvSpPr/>
          <p:nvPr/>
        </p:nvSpPr>
        <p:spPr>
          <a:xfrm>
            <a:off x="4151376" y="1170432"/>
            <a:ext cx="3858768" cy="17830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151376" y="1170432"/>
            <a:ext cx="3858768"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15968" y="1261872"/>
            <a:ext cx="3630168" cy="320040"/>
          </a:xfrm>
          <a:prstGeom prst="rect">
            <a:avLst/>
          </a:prstGeom>
          <a:noFill/>
        </p:spPr>
        <p:txBody>
          <a:bodyPr wrap="square">
            <a:spAutoFit/>
          </a:bodyPr>
          <a:lstStyle/>
          <a:p>
            <a:pPr algn="l"/>
            <a:r>
              <a:rPr sz="1100" b="1" i="0">
                <a:solidFill>
                  <a:srgbClr val="F4F4F2"/>
                </a:solidFill>
                <a:latin typeface="Calibri"/>
              </a:rPr>
              <a:t>Trusted Advisor, Not Just a Vendor</a:t>
            </a:r>
          </a:p>
        </p:txBody>
      </p:sp>
      <p:sp>
        <p:nvSpPr>
          <p:cNvPr id="16" name="TextBox 15"/>
          <p:cNvSpPr txBox="1"/>
          <p:nvPr/>
        </p:nvSpPr>
        <p:spPr>
          <a:xfrm>
            <a:off x="4315968" y="1609344"/>
            <a:ext cx="3630168" cy="1234440"/>
          </a:xfrm>
          <a:prstGeom prst="rect">
            <a:avLst/>
          </a:prstGeom>
          <a:noFill/>
        </p:spPr>
        <p:txBody>
          <a:bodyPr wrap="square">
            <a:spAutoFit/>
          </a:bodyPr>
          <a:lstStyle/>
          <a:p>
            <a:pPr algn="l"/>
            <a:r>
              <a:rPr sz="950" b="0" i="0">
                <a:solidFill>
                  <a:srgbClr val="8B92A5"/>
                </a:solidFill>
                <a:latin typeface="Calibri"/>
              </a:rPr>
              <a:t>My strongest relationships are built on genuine understanding of the client's business and pressures. At IBM I became the go-to advisor for partners across three markets. Clients come back because they trust me.</a:t>
            </a:r>
          </a:p>
        </p:txBody>
      </p:sp>
      <p:sp>
        <p:nvSpPr>
          <p:cNvPr id="17" name="Rectangle 16"/>
          <p:cNvSpPr/>
          <p:nvPr/>
        </p:nvSpPr>
        <p:spPr>
          <a:xfrm>
            <a:off x="8119872" y="1170432"/>
            <a:ext cx="3858768" cy="17830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19872" y="1170432"/>
            <a:ext cx="3858768"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4464" y="1261872"/>
            <a:ext cx="3630168" cy="320040"/>
          </a:xfrm>
          <a:prstGeom prst="rect">
            <a:avLst/>
          </a:prstGeom>
          <a:noFill/>
        </p:spPr>
        <p:txBody>
          <a:bodyPr wrap="square">
            <a:spAutoFit/>
          </a:bodyPr>
          <a:lstStyle/>
          <a:p>
            <a:pPr algn="l"/>
            <a:r>
              <a:rPr sz="1100" b="1" i="0">
                <a:solidFill>
                  <a:srgbClr val="F4F4F2"/>
                </a:solidFill>
                <a:latin typeface="Calibri"/>
              </a:rPr>
              <a:t>AI-Led Selling</a:t>
            </a:r>
          </a:p>
        </p:txBody>
      </p:sp>
      <p:sp>
        <p:nvSpPr>
          <p:cNvPr id="20" name="TextBox 19"/>
          <p:cNvSpPr txBox="1"/>
          <p:nvPr/>
        </p:nvSpPr>
        <p:spPr>
          <a:xfrm>
            <a:off x="8284464" y="1609344"/>
            <a:ext cx="3630168" cy="1234440"/>
          </a:xfrm>
          <a:prstGeom prst="rect">
            <a:avLst/>
          </a:prstGeom>
          <a:noFill/>
        </p:spPr>
        <p:txBody>
          <a:bodyPr wrap="square">
            <a:spAutoFit/>
          </a:bodyPr>
          <a:lstStyle/>
          <a:p>
            <a:pPr algn="l"/>
            <a:r>
              <a:rPr sz="950" b="0" i="0">
                <a:solidFill>
                  <a:srgbClr val="8B92A5"/>
                </a:solidFill>
                <a:latin typeface="Calibri"/>
              </a:rPr>
              <a:t>I build AI into how I work as infrastructure. AI tools help me identify the right accounts and personas, prioritise outreach, and build prospecting applications. It is how I compete at 140%.</a:t>
            </a:r>
          </a:p>
        </p:txBody>
      </p:sp>
      <p:sp>
        <p:nvSpPr>
          <p:cNvPr id="21" name="Rectangle 20"/>
          <p:cNvSpPr/>
          <p:nvPr/>
        </p:nvSpPr>
        <p:spPr>
          <a:xfrm>
            <a:off x="182880" y="3063240"/>
            <a:ext cx="3858768" cy="17830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82880" y="3063240"/>
            <a:ext cx="3858768"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47472" y="3154680"/>
            <a:ext cx="3630168" cy="320040"/>
          </a:xfrm>
          <a:prstGeom prst="rect">
            <a:avLst/>
          </a:prstGeom>
          <a:noFill/>
        </p:spPr>
        <p:txBody>
          <a:bodyPr wrap="square">
            <a:spAutoFit/>
          </a:bodyPr>
          <a:lstStyle/>
          <a:p>
            <a:pPr algn="l"/>
            <a:r>
              <a:rPr sz="1100" b="1" i="0">
                <a:solidFill>
                  <a:srgbClr val="F4F4F2"/>
                </a:solidFill>
                <a:latin typeface="Calibri"/>
              </a:rPr>
              <a:t>Partner Ecosystem</a:t>
            </a:r>
          </a:p>
        </p:txBody>
      </p:sp>
      <p:sp>
        <p:nvSpPr>
          <p:cNvPr id="24" name="TextBox 23"/>
          <p:cNvSpPr txBox="1"/>
          <p:nvPr/>
        </p:nvSpPr>
        <p:spPr>
          <a:xfrm>
            <a:off x="347472" y="3502152"/>
            <a:ext cx="3630168" cy="1234440"/>
          </a:xfrm>
          <a:prstGeom prst="rect">
            <a:avLst/>
          </a:prstGeom>
          <a:noFill/>
        </p:spPr>
        <p:txBody>
          <a:bodyPr wrap="square">
            <a:spAutoFit/>
          </a:bodyPr>
          <a:lstStyle/>
          <a:p>
            <a:pPr algn="l"/>
            <a:r>
              <a:rPr sz="950" b="0" i="0">
                <a:solidFill>
                  <a:srgbClr val="8B92A5"/>
                </a:solidFill>
                <a:latin typeface="Calibri"/>
              </a:rPr>
              <a:t>Built and maintained partner relationships throughout my career — from 200+ startup partners in IBM's Global Entrepreneur Program to strategic alliances at SAP. I know how to activate a network to open doors and co-sell.</a:t>
            </a:r>
          </a:p>
        </p:txBody>
      </p:sp>
      <p:sp>
        <p:nvSpPr>
          <p:cNvPr id="25" name="Rectangle 24"/>
          <p:cNvSpPr/>
          <p:nvPr/>
        </p:nvSpPr>
        <p:spPr>
          <a:xfrm>
            <a:off x="4151376" y="3063240"/>
            <a:ext cx="3858768" cy="17830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151376" y="3063240"/>
            <a:ext cx="3858768"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15968" y="3154680"/>
            <a:ext cx="3630168" cy="320040"/>
          </a:xfrm>
          <a:prstGeom prst="rect">
            <a:avLst/>
          </a:prstGeom>
          <a:noFill/>
        </p:spPr>
        <p:txBody>
          <a:bodyPr wrap="square">
            <a:spAutoFit/>
          </a:bodyPr>
          <a:lstStyle/>
          <a:p>
            <a:pPr algn="l"/>
            <a:r>
              <a:rPr sz="1100" b="1" i="0">
                <a:solidFill>
                  <a:srgbClr val="F4F4F2"/>
                </a:solidFill>
                <a:latin typeface="Calibri"/>
              </a:rPr>
              <a:t>Senior Stakeholder Engagement</a:t>
            </a:r>
          </a:p>
        </p:txBody>
      </p:sp>
      <p:sp>
        <p:nvSpPr>
          <p:cNvPr id="28" name="TextBox 27"/>
          <p:cNvSpPr txBox="1"/>
          <p:nvPr/>
        </p:nvSpPr>
        <p:spPr>
          <a:xfrm>
            <a:off x="4315968" y="3502152"/>
            <a:ext cx="3630168" cy="1234440"/>
          </a:xfrm>
          <a:prstGeom prst="rect">
            <a:avLst/>
          </a:prstGeom>
          <a:noFill/>
        </p:spPr>
        <p:txBody>
          <a:bodyPr wrap="square">
            <a:spAutoFit/>
          </a:bodyPr>
          <a:lstStyle/>
          <a:p>
            <a:pPr algn="l"/>
            <a:r>
              <a:rPr sz="950" b="0" i="0">
                <a:solidFill>
                  <a:srgbClr val="8B92A5"/>
                </a:solidFill>
                <a:latin typeface="Calibri"/>
              </a:rPr>
              <a:t>From CTOs at IBM to C-suite at SAP. Executive-level relationships across Egypt, South Africa, and Morocco. I communicate with clarity, adapt to the room, and earn trust quickly.</a:t>
            </a:r>
          </a:p>
        </p:txBody>
      </p:sp>
      <p:sp>
        <p:nvSpPr>
          <p:cNvPr id="29" name="Rectangle 28"/>
          <p:cNvSpPr/>
          <p:nvPr/>
        </p:nvSpPr>
        <p:spPr>
          <a:xfrm>
            <a:off x="8119872" y="3063240"/>
            <a:ext cx="3858768" cy="17830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119872" y="3063240"/>
            <a:ext cx="3858768"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84464" y="3154680"/>
            <a:ext cx="3630168" cy="320040"/>
          </a:xfrm>
          <a:prstGeom prst="rect">
            <a:avLst/>
          </a:prstGeom>
          <a:noFill/>
        </p:spPr>
        <p:txBody>
          <a:bodyPr wrap="square">
            <a:spAutoFit/>
          </a:bodyPr>
          <a:lstStyle/>
          <a:p>
            <a:pPr algn="l"/>
            <a:r>
              <a:rPr sz="1100" b="1" i="0">
                <a:solidFill>
                  <a:srgbClr val="F4F4F2"/>
                </a:solidFill>
                <a:latin typeface="Calibri"/>
              </a:rPr>
              <a:t>Salesforce &amp; Pipeline Governance</a:t>
            </a:r>
          </a:p>
        </p:txBody>
      </p:sp>
      <p:sp>
        <p:nvSpPr>
          <p:cNvPr id="32" name="TextBox 31"/>
          <p:cNvSpPr txBox="1"/>
          <p:nvPr/>
        </p:nvSpPr>
        <p:spPr>
          <a:xfrm>
            <a:off x="8284464" y="3502152"/>
            <a:ext cx="3630168" cy="1234440"/>
          </a:xfrm>
          <a:prstGeom prst="rect">
            <a:avLst/>
          </a:prstGeom>
          <a:noFill/>
        </p:spPr>
        <p:txBody>
          <a:bodyPr wrap="square">
            <a:spAutoFit/>
          </a:bodyPr>
          <a:lstStyle/>
          <a:p>
            <a:pPr algn="l"/>
            <a:r>
              <a:rPr sz="950" b="0" i="0">
                <a:solidFill>
                  <a:srgbClr val="8B92A5"/>
                </a:solidFill>
                <a:latin typeface="Calibri"/>
              </a:rPr>
              <a:t>Running pipeline management in Salesforce at SAP. Data hygiene matters. A CRM nobody trusts is just admin overhead. I make it a decision-making tool.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113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4864" cy="68580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 y="502920"/>
            <a:ext cx="11823192" cy="242316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502920"/>
            <a:ext cx="11823192"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457200"/>
            <a:ext cx="822960" cy="1005840"/>
          </a:xfrm>
          <a:prstGeom prst="rect">
            <a:avLst/>
          </a:prstGeom>
          <a:noFill/>
        </p:spPr>
        <p:txBody>
          <a:bodyPr wrap="square">
            <a:spAutoFit/>
          </a:bodyPr>
          <a:lstStyle/>
          <a:p>
            <a:pPr algn="l"/>
            <a:r>
              <a:rPr sz="6400" b="1" i="0">
                <a:solidFill>
                  <a:srgbClr val="00C9B1"/>
                </a:solidFill>
                <a:latin typeface="Calibri"/>
              </a:rPr>
              <a:t>“</a:t>
            </a:r>
          </a:p>
        </p:txBody>
      </p:sp>
      <p:sp>
        <p:nvSpPr>
          <p:cNvPr id="7" name="TextBox 6"/>
          <p:cNvSpPr txBox="1"/>
          <p:nvPr/>
        </p:nvSpPr>
        <p:spPr>
          <a:xfrm>
            <a:off x="960120" y="658368"/>
            <a:ext cx="10954512" cy="1645920"/>
          </a:xfrm>
          <a:prstGeom prst="rect">
            <a:avLst/>
          </a:prstGeom>
          <a:noFill/>
        </p:spPr>
        <p:txBody>
          <a:bodyPr wrap="square">
            <a:spAutoFit/>
          </a:bodyPr>
          <a:lstStyle/>
          <a:p>
            <a:pPr algn="l"/>
            <a:r>
              <a:rPr sz="1400" b="1" i="0">
                <a:solidFill>
                  <a:srgbClr val="F4F4F2"/>
                </a:solidFill>
                <a:latin typeface="Calibri"/>
              </a:rPr>
              <a:t>When I look back at what I'm most proud of, it's never just the number. It's the client who called me first when something went wrong. The partner who trusted me with their roadmap. The relationship that outlasted the deal. That's what I want to build here. At depth, over time.</a:t>
            </a:r>
          </a:p>
        </p:txBody>
      </p:sp>
      <p:sp>
        <p:nvSpPr>
          <p:cNvPr id="8" name="TextBox 7"/>
          <p:cNvSpPr txBox="1"/>
          <p:nvPr/>
        </p:nvSpPr>
        <p:spPr>
          <a:xfrm>
            <a:off x="960120" y="2633472"/>
            <a:ext cx="10954512" cy="256032"/>
          </a:xfrm>
          <a:prstGeom prst="rect">
            <a:avLst/>
          </a:prstGeom>
          <a:noFill/>
        </p:spPr>
        <p:txBody>
          <a:bodyPr wrap="square">
            <a:spAutoFit/>
          </a:bodyPr>
          <a:lstStyle/>
          <a:p>
            <a:pPr algn="l"/>
            <a:r>
              <a:rPr sz="1000" b="0" i="0">
                <a:solidFill>
                  <a:srgbClr val="8B92A5"/>
                </a:solidFill>
                <a:latin typeface="Calibri"/>
              </a:rPr>
              <a:t>— Myrna Gamal Fahim</a:t>
            </a:r>
          </a:p>
        </p:txBody>
      </p:sp>
      <p:sp>
        <p:nvSpPr>
          <p:cNvPr id="9" name="Rectangle 8"/>
          <p:cNvSpPr/>
          <p:nvPr/>
        </p:nvSpPr>
        <p:spPr>
          <a:xfrm>
            <a:off x="182880" y="3063240"/>
            <a:ext cx="5843016" cy="146304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 y="3063240"/>
            <a:ext cx="5843016"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 y="3154680"/>
            <a:ext cx="5568696" cy="320040"/>
          </a:xfrm>
          <a:prstGeom prst="rect">
            <a:avLst/>
          </a:prstGeom>
          <a:noFill/>
        </p:spPr>
        <p:txBody>
          <a:bodyPr wrap="square">
            <a:spAutoFit/>
          </a:bodyPr>
          <a:lstStyle/>
          <a:p>
            <a:pPr algn="l"/>
            <a:r>
              <a:rPr sz="1100" b="1" i="0">
                <a:solidFill>
                  <a:srgbClr val="F4F4F2"/>
                </a:solidFill>
                <a:latin typeface="Calibri"/>
              </a:rPr>
              <a:t>I want to go deeper, not just wider.</a:t>
            </a:r>
          </a:p>
        </p:txBody>
      </p:sp>
      <p:sp>
        <p:nvSpPr>
          <p:cNvPr id="12" name="TextBox 11"/>
          <p:cNvSpPr txBox="1"/>
          <p:nvPr/>
        </p:nvSpPr>
        <p:spPr>
          <a:xfrm>
            <a:off x="347472" y="3520440"/>
            <a:ext cx="5568696" cy="914400"/>
          </a:xfrm>
          <a:prstGeom prst="rect">
            <a:avLst/>
          </a:prstGeom>
          <a:noFill/>
        </p:spPr>
        <p:txBody>
          <a:bodyPr wrap="square">
            <a:spAutoFit/>
          </a:bodyPr>
          <a:lstStyle/>
          <a:p>
            <a:pPr algn="l"/>
            <a:r>
              <a:rPr sz="950" b="0" i="0">
                <a:solidFill>
                  <a:srgbClr val="8B92A5"/>
                </a:solidFill>
                <a:latin typeface="Calibri"/>
              </a:rPr>
              <a:t>I've spent 10 years building pipeline and winning new business. Now I want to go deeper: own a portfolio of clients over time, understand their business fully, and become the person they rely on. That is a different and harder skill. I'm ready for it.</a:t>
            </a:r>
          </a:p>
        </p:txBody>
      </p:sp>
      <p:sp>
        <p:nvSpPr>
          <p:cNvPr id="13" name="Rectangle 12"/>
          <p:cNvSpPr/>
          <p:nvPr/>
        </p:nvSpPr>
        <p:spPr>
          <a:xfrm>
            <a:off x="6135624" y="3063240"/>
            <a:ext cx="5843016" cy="146304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35624" y="3063240"/>
            <a:ext cx="5843016"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0216" y="3154680"/>
            <a:ext cx="5568696" cy="320040"/>
          </a:xfrm>
          <a:prstGeom prst="rect">
            <a:avLst/>
          </a:prstGeom>
          <a:noFill/>
        </p:spPr>
        <p:txBody>
          <a:bodyPr wrap="square">
            <a:spAutoFit/>
          </a:bodyPr>
          <a:lstStyle/>
          <a:p>
            <a:pPr algn="l"/>
            <a:r>
              <a:rPr sz="1100" b="1" i="0">
                <a:solidFill>
                  <a:srgbClr val="F4F4F2"/>
                </a:solidFill>
                <a:latin typeface="Calibri"/>
              </a:rPr>
              <a:t>The best account managers are obsessed with client success.</a:t>
            </a:r>
          </a:p>
        </p:txBody>
      </p:sp>
      <p:sp>
        <p:nvSpPr>
          <p:cNvPr id="16" name="TextBox 15"/>
          <p:cNvSpPr txBox="1"/>
          <p:nvPr/>
        </p:nvSpPr>
        <p:spPr>
          <a:xfrm>
            <a:off x="6300216" y="3520440"/>
            <a:ext cx="5568696" cy="914400"/>
          </a:xfrm>
          <a:prstGeom prst="rect">
            <a:avLst/>
          </a:prstGeom>
          <a:noFill/>
        </p:spPr>
        <p:txBody>
          <a:bodyPr wrap="square">
            <a:spAutoFit/>
          </a:bodyPr>
          <a:lstStyle/>
          <a:p>
            <a:pPr algn="l"/>
            <a:r>
              <a:rPr sz="950" b="0" i="0">
                <a:solidFill>
                  <a:srgbClr val="8B92A5"/>
                </a:solidFill>
                <a:latin typeface="Calibri"/>
              </a:rPr>
              <a:t>I don't just want to retain accounts. I want clients to grow, to refer others, to say this firm understands them. That obsession with genuine client success (not just contract renewal) is what I bring to this role.</a:t>
            </a:r>
          </a:p>
        </p:txBody>
      </p:sp>
      <p:sp>
        <p:nvSpPr>
          <p:cNvPr id="17" name="Rectangle 16"/>
          <p:cNvSpPr/>
          <p:nvPr/>
        </p:nvSpPr>
        <p:spPr>
          <a:xfrm>
            <a:off x="182880" y="4681728"/>
            <a:ext cx="2921508" cy="15544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2880" y="4681728"/>
            <a:ext cx="2921508"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20040" y="4773168"/>
            <a:ext cx="2692908" cy="228600"/>
          </a:xfrm>
          <a:prstGeom prst="rect">
            <a:avLst/>
          </a:prstGeom>
          <a:noFill/>
        </p:spPr>
        <p:txBody>
          <a:bodyPr wrap="square">
            <a:spAutoFit/>
          </a:bodyPr>
          <a:lstStyle/>
          <a:p>
            <a:pPr algn="l"/>
            <a:r>
              <a:rPr sz="900" b="1" i="0">
                <a:solidFill>
                  <a:srgbClr val="00C9B1"/>
                </a:solidFill>
                <a:latin typeface="Calibri"/>
              </a:rPr>
              <a:t>Day 1</a:t>
            </a:r>
          </a:p>
        </p:txBody>
      </p:sp>
      <p:sp>
        <p:nvSpPr>
          <p:cNvPr id="20" name="TextBox 19"/>
          <p:cNvSpPr txBox="1"/>
          <p:nvPr/>
        </p:nvSpPr>
        <p:spPr>
          <a:xfrm>
            <a:off x="320040" y="5029200"/>
            <a:ext cx="2692908" cy="256032"/>
          </a:xfrm>
          <a:prstGeom prst="rect">
            <a:avLst/>
          </a:prstGeom>
          <a:noFill/>
        </p:spPr>
        <p:txBody>
          <a:bodyPr wrap="square">
            <a:spAutoFit/>
          </a:bodyPr>
          <a:lstStyle/>
          <a:p>
            <a:pPr algn="l"/>
            <a:r>
              <a:rPr sz="1100" b="1" i="0">
                <a:solidFill>
                  <a:srgbClr val="F4F4F2"/>
                </a:solidFill>
                <a:latin typeface="Calibri"/>
              </a:rPr>
              <a:t>Listen &amp; map</a:t>
            </a:r>
          </a:p>
        </p:txBody>
      </p:sp>
      <p:sp>
        <p:nvSpPr>
          <p:cNvPr id="21" name="TextBox 20"/>
          <p:cNvSpPr txBox="1"/>
          <p:nvPr/>
        </p:nvSpPr>
        <p:spPr>
          <a:xfrm>
            <a:off x="320040" y="5321808"/>
            <a:ext cx="2692908" cy="777240"/>
          </a:xfrm>
          <a:prstGeom prst="rect">
            <a:avLst/>
          </a:prstGeom>
          <a:noFill/>
        </p:spPr>
        <p:txBody>
          <a:bodyPr wrap="square">
            <a:spAutoFit/>
          </a:bodyPr>
          <a:lstStyle/>
          <a:p>
            <a:pPr algn="l"/>
            <a:r>
              <a:rPr sz="950" b="0" i="0">
                <a:solidFill>
                  <a:srgbClr val="8B92A5"/>
                </a:solidFill>
                <a:latin typeface="Calibri"/>
              </a:rPr>
              <a:t>Understand the client landscape, team dynamics, and existing rhythms</a:t>
            </a:r>
          </a:p>
        </p:txBody>
      </p:sp>
      <p:sp>
        <p:nvSpPr>
          <p:cNvPr id="22" name="Rectangle 21"/>
          <p:cNvSpPr/>
          <p:nvPr/>
        </p:nvSpPr>
        <p:spPr>
          <a:xfrm>
            <a:off x="3150108" y="4681728"/>
            <a:ext cx="2921508" cy="15544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50108" y="4681728"/>
            <a:ext cx="2921508"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287268" y="4773168"/>
            <a:ext cx="2692908" cy="228600"/>
          </a:xfrm>
          <a:prstGeom prst="rect">
            <a:avLst/>
          </a:prstGeom>
          <a:noFill/>
        </p:spPr>
        <p:txBody>
          <a:bodyPr wrap="square">
            <a:spAutoFit/>
          </a:bodyPr>
          <a:lstStyle/>
          <a:p>
            <a:pPr algn="l"/>
            <a:r>
              <a:rPr sz="900" b="1" i="0">
                <a:solidFill>
                  <a:srgbClr val="00C9B1"/>
                </a:solidFill>
                <a:latin typeface="Calibri"/>
              </a:rPr>
              <a:t>30 Days</a:t>
            </a:r>
          </a:p>
        </p:txBody>
      </p:sp>
      <p:sp>
        <p:nvSpPr>
          <p:cNvPr id="25" name="TextBox 24"/>
          <p:cNvSpPr txBox="1"/>
          <p:nvPr/>
        </p:nvSpPr>
        <p:spPr>
          <a:xfrm>
            <a:off x="3287268" y="5029200"/>
            <a:ext cx="2692908" cy="256032"/>
          </a:xfrm>
          <a:prstGeom prst="rect">
            <a:avLst/>
          </a:prstGeom>
          <a:noFill/>
        </p:spPr>
        <p:txBody>
          <a:bodyPr wrap="square">
            <a:spAutoFit/>
          </a:bodyPr>
          <a:lstStyle/>
          <a:p>
            <a:pPr algn="l"/>
            <a:r>
              <a:rPr sz="1100" b="1" i="0">
                <a:solidFill>
                  <a:srgbClr val="F4F4F2"/>
                </a:solidFill>
                <a:latin typeface="Calibri"/>
              </a:rPr>
              <a:t>Audit &amp; diagnose</a:t>
            </a:r>
          </a:p>
        </p:txBody>
      </p:sp>
      <p:sp>
        <p:nvSpPr>
          <p:cNvPr id="26" name="TextBox 25"/>
          <p:cNvSpPr txBox="1"/>
          <p:nvPr/>
        </p:nvSpPr>
        <p:spPr>
          <a:xfrm>
            <a:off x="3287268" y="5321808"/>
            <a:ext cx="2692908" cy="777240"/>
          </a:xfrm>
          <a:prstGeom prst="rect">
            <a:avLst/>
          </a:prstGeom>
          <a:noFill/>
        </p:spPr>
        <p:txBody>
          <a:bodyPr wrap="square">
            <a:spAutoFit/>
          </a:bodyPr>
          <a:lstStyle/>
          <a:p>
            <a:pPr algn="l"/>
            <a:r>
              <a:rPr sz="950" b="0" i="0">
                <a:solidFill>
                  <a:srgbClr val="8B92A5"/>
                </a:solidFill>
                <a:latin typeface="Calibri"/>
              </a:rPr>
              <a:t>Salesforce data quality, reporting cadence, stakeholder coverage</a:t>
            </a:r>
          </a:p>
        </p:txBody>
      </p:sp>
      <p:sp>
        <p:nvSpPr>
          <p:cNvPr id="27" name="Rectangle 26"/>
          <p:cNvSpPr/>
          <p:nvPr/>
        </p:nvSpPr>
        <p:spPr>
          <a:xfrm>
            <a:off x="6117336" y="4681728"/>
            <a:ext cx="2921508" cy="15544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17336" y="4681728"/>
            <a:ext cx="2921508"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54496" y="4773168"/>
            <a:ext cx="2692908" cy="228600"/>
          </a:xfrm>
          <a:prstGeom prst="rect">
            <a:avLst/>
          </a:prstGeom>
          <a:noFill/>
        </p:spPr>
        <p:txBody>
          <a:bodyPr wrap="square">
            <a:spAutoFit/>
          </a:bodyPr>
          <a:lstStyle/>
          <a:p>
            <a:pPr algn="l"/>
            <a:r>
              <a:rPr sz="900" b="1" i="0">
                <a:solidFill>
                  <a:srgbClr val="00C9B1"/>
                </a:solidFill>
                <a:latin typeface="Calibri"/>
              </a:rPr>
              <a:t>90 Days</a:t>
            </a:r>
          </a:p>
        </p:txBody>
      </p:sp>
      <p:sp>
        <p:nvSpPr>
          <p:cNvPr id="30" name="TextBox 29"/>
          <p:cNvSpPr txBox="1"/>
          <p:nvPr/>
        </p:nvSpPr>
        <p:spPr>
          <a:xfrm>
            <a:off x="6254496" y="5029200"/>
            <a:ext cx="2692908" cy="256032"/>
          </a:xfrm>
          <a:prstGeom prst="rect">
            <a:avLst/>
          </a:prstGeom>
          <a:noFill/>
        </p:spPr>
        <p:txBody>
          <a:bodyPr wrap="square">
            <a:spAutoFit/>
          </a:bodyPr>
          <a:lstStyle/>
          <a:p>
            <a:pPr algn="l"/>
            <a:r>
              <a:rPr sz="1100" b="1" i="0">
                <a:solidFill>
                  <a:srgbClr val="F4F4F2"/>
                </a:solidFill>
                <a:latin typeface="Calibri"/>
              </a:rPr>
              <a:t>Embed &amp; deliver</a:t>
            </a:r>
          </a:p>
        </p:txBody>
      </p:sp>
      <p:sp>
        <p:nvSpPr>
          <p:cNvPr id="31" name="TextBox 30"/>
          <p:cNvSpPr txBox="1"/>
          <p:nvPr/>
        </p:nvSpPr>
        <p:spPr>
          <a:xfrm>
            <a:off x="6254496" y="5321808"/>
            <a:ext cx="2692908" cy="777240"/>
          </a:xfrm>
          <a:prstGeom prst="rect">
            <a:avLst/>
          </a:prstGeom>
          <a:noFill/>
        </p:spPr>
        <p:txBody>
          <a:bodyPr wrap="square">
            <a:spAutoFit/>
          </a:bodyPr>
          <a:lstStyle/>
          <a:p>
            <a:pPr algn="l"/>
            <a:r>
              <a:rPr sz="950" b="0" i="0">
                <a:solidFill>
                  <a:srgbClr val="8B92A5"/>
                </a:solidFill>
                <a:latin typeface="Calibri"/>
              </a:rPr>
              <a:t>Structured account cadence in place, first client value report delivered</a:t>
            </a:r>
          </a:p>
        </p:txBody>
      </p:sp>
      <p:sp>
        <p:nvSpPr>
          <p:cNvPr id="32" name="Rectangle 31"/>
          <p:cNvSpPr/>
          <p:nvPr/>
        </p:nvSpPr>
        <p:spPr>
          <a:xfrm>
            <a:off x="9084564" y="4681728"/>
            <a:ext cx="2921508" cy="155448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084564" y="4681728"/>
            <a:ext cx="2921508" cy="25400"/>
          </a:xfrm>
          <a:prstGeom prst="rect">
            <a:avLst/>
          </a:prstGeom>
          <a:solidFill>
            <a:srgbClr val="00C9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221724" y="4773168"/>
            <a:ext cx="2692908" cy="228600"/>
          </a:xfrm>
          <a:prstGeom prst="rect">
            <a:avLst/>
          </a:prstGeom>
          <a:noFill/>
        </p:spPr>
        <p:txBody>
          <a:bodyPr wrap="square">
            <a:spAutoFit/>
          </a:bodyPr>
          <a:lstStyle/>
          <a:p>
            <a:pPr algn="l"/>
            <a:r>
              <a:rPr sz="900" b="1" i="0">
                <a:solidFill>
                  <a:srgbClr val="00C9B1"/>
                </a:solidFill>
                <a:latin typeface="Calibri"/>
              </a:rPr>
              <a:t>6 Months</a:t>
            </a:r>
          </a:p>
        </p:txBody>
      </p:sp>
      <p:sp>
        <p:nvSpPr>
          <p:cNvPr id="35" name="TextBox 34"/>
          <p:cNvSpPr txBox="1"/>
          <p:nvPr/>
        </p:nvSpPr>
        <p:spPr>
          <a:xfrm>
            <a:off x="9221724" y="5029200"/>
            <a:ext cx="2692908" cy="256032"/>
          </a:xfrm>
          <a:prstGeom prst="rect">
            <a:avLst/>
          </a:prstGeom>
          <a:noFill/>
        </p:spPr>
        <p:txBody>
          <a:bodyPr wrap="square">
            <a:spAutoFit/>
          </a:bodyPr>
          <a:lstStyle/>
          <a:p>
            <a:pPr algn="l"/>
            <a:r>
              <a:rPr sz="1100" b="1" i="0">
                <a:solidFill>
                  <a:srgbClr val="F4F4F2"/>
                </a:solidFill>
                <a:latin typeface="Calibri"/>
              </a:rPr>
              <a:t>Measure &amp; grow</a:t>
            </a:r>
          </a:p>
        </p:txBody>
      </p:sp>
      <p:sp>
        <p:nvSpPr>
          <p:cNvPr id="36" name="TextBox 35"/>
          <p:cNvSpPr txBox="1"/>
          <p:nvPr/>
        </p:nvSpPr>
        <p:spPr>
          <a:xfrm>
            <a:off x="9221724" y="5321808"/>
            <a:ext cx="2692908" cy="777240"/>
          </a:xfrm>
          <a:prstGeom prst="rect">
            <a:avLst/>
          </a:prstGeom>
          <a:noFill/>
        </p:spPr>
        <p:txBody>
          <a:bodyPr wrap="square">
            <a:spAutoFit/>
          </a:bodyPr>
          <a:lstStyle/>
          <a:p>
            <a:pPr algn="l"/>
            <a:r>
              <a:rPr sz="950" b="0" i="0">
                <a:solidFill>
                  <a:srgbClr val="8B92A5"/>
                </a:solidFill>
                <a:latin typeface="Calibri"/>
              </a:rPr>
              <a:t>Visible uplift in feedback volumes, pipeline accuracy, on-time reporting</a:t>
            </a:r>
          </a:p>
        </p:txBody>
      </p:sp>
      <p:sp>
        <p:nvSpPr>
          <p:cNvPr id="37" name="Rectangle 36"/>
          <p:cNvSpPr/>
          <p:nvPr/>
        </p:nvSpPr>
        <p:spPr>
          <a:xfrm>
            <a:off x="54864" y="6492240"/>
            <a:ext cx="12134088" cy="365760"/>
          </a:xfrm>
          <a:prstGeom prst="rect">
            <a:avLst/>
          </a:prstGeom>
          <a:solidFill>
            <a:srgbClr val="18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6537960"/>
            <a:ext cx="11640312" cy="256032"/>
          </a:xfrm>
          <a:prstGeom prst="rect">
            <a:avLst/>
          </a:prstGeom>
          <a:noFill/>
        </p:spPr>
        <p:txBody>
          <a:bodyPr wrap="square">
            <a:spAutoFit/>
          </a:bodyPr>
          <a:lstStyle/>
          <a:p>
            <a:pPr algn="l"/>
            <a:r>
              <a:rPr sz="900" b="0" i="0">
                <a:solidFill>
                  <a:srgbClr val="8B92A5"/>
                </a:solidFill>
                <a:latin typeface="Calibri"/>
              </a:rPr>
              <a:t>Thank you. I welcome the opportunity to discuss how my background can contribute as your next Account Manager.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